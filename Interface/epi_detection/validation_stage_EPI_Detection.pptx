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</p:sldIdLst>
  <p:sldSz cx="1219358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59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56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70201B-F79F-4E8F-A3B2-AFAF78BE645B}" type="datetimeFigureOut">
              <a:rPr lang="fr-FR" smtClean="0"/>
              <a:t>09/06/2026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476BC6-6924-455F-93B8-9A72D518826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227301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Le LLM est utilisé pou le </a:t>
            </a:r>
            <a:r>
              <a:rPr lang="fr-FR" dirty="0" err="1"/>
              <a:t>fallback</a:t>
            </a:r>
            <a:r>
              <a:rPr lang="fr-FR" dirty="0"/>
              <a:t>. En fait lorsque un seuil de </a:t>
            </a:r>
            <a:r>
              <a:rPr lang="fr-FR" dirty="0" err="1"/>
              <a:t>presence</a:t>
            </a:r>
            <a:r>
              <a:rPr lang="fr-FR" dirty="0"/>
              <a:t> dans une zon qui requis un EPI est </a:t>
            </a:r>
            <a:r>
              <a:rPr lang="fr-FR" dirty="0" err="1"/>
              <a:t>depassé</a:t>
            </a:r>
            <a:r>
              <a:rPr lang="fr-FR" dirty="0"/>
              <a:t>, alors une capture image est </a:t>
            </a:r>
            <a:r>
              <a:rPr lang="fr-FR" dirty="0" err="1"/>
              <a:t>enoyé</a:t>
            </a:r>
            <a:r>
              <a:rPr lang="fr-FR" dirty="0"/>
              <a:t> a notre </a:t>
            </a:r>
            <a:r>
              <a:rPr lang="fr-FR" dirty="0" err="1"/>
              <a:t>notre</a:t>
            </a:r>
            <a:r>
              <a:rPr lang="fr-FR" dirty="0"/>
              <a:t> LLM pour analyser et faire sortir une </a:t>
            </a:r>
            <a:r>
              <a:rPr lang="fr-FR" dirty="0" err="1"/>
              <a:t>synthese</a:t>
            </a:r>
            <a:r>
              <a:rPr lang="fr-FR" dirty="0"/>
              <a:t> </a:t>
            </a:r>
            <a:r>
              <a:rPr lang="fr-FR" dirty="0" err="1"/>
              <a:t>conextuelle</a:t>
            </a:r>
            <a:r>
              <a:rPr lang="fr-FR" dirty="0"/>
              <a:t> de la situation. Il </a:t>
            </a:r>
            <a:r>
              <a:rPr lang="fr-FR" dirty="0" err="1"/>
              <a:t>ya</a:t>
            </a:r>
            <a:r>
              <a:rPr lang="fr-FR" dirty="0"/>
              <a:t> aussi un RATA_LIMIT pour envoie des photos </a:t>
            </a:r>
            <a:r>
              <a:rPr lang="fr-FR"/>
              <a:t>a Gemini.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476BC6-6924-455F-93B8-9A72D5188268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242079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476BC6-6924-455F-93B8-9A72D5188268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66884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2C7DAFA7-94D3-F8AE-0E77-63F74669E6A0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650675" y="6736080"/>
            <a:ext cx="920750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fr-FR" sz="800">
                <a:solidFill>
                  <a:srgbClr val="ED7D31"/>
                </a:solidFill>
                <a:latin typeface="Helvetica 75 Bold" panose="02000803050000020004" pitchFamily="2" charset="0"/>
              </a:rPr>
              <a:t>Orange Restricted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200" cy="360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36000"/>
            <a:ext cx="12193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>
                <a:solidFill>
                  <a:srgbClr val="FFFFFF"/>
                </a:solidFill>
                <a:latin typeface="Calibri"/>
              </a:rPr>
              <a:t>PRÉSENTATION TECHNIQUE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720000"/>
            <a:ext cx="108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Plateforme Intelligente de Détection EPI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96000"/>
            <a:ext cx="108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97316"/>
                </a:solidFill>
                <a:latin typeface="Calibri"/>
              </a:rPr>
              <a:t>Gestion des Alertes &amp; Audits HSE</a:t>
            </a:r>
          </a:p>
        </p:txBody>
      </p:sp>
      <p:sp>
        <p:nvSpPr>
          <p:cNvPr id="6" name="Rectangle 5"/>
          <p:cNvSpPr/>
          <p:nvPr/>
        </p:nvSpPr>
        <p:spPr>
          <a:xfrm>
            <a:off x="2880000" y="1908000"/>
            <a:ext cx="6480000" cy="288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20000" y="2015999"/>
            <a:ext cx="10800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dirty="0">
                <a:solidFill>
                  <a:srgbClr val="FFFFFF"/>
                </a:solidFill>
                <a:latin typeface="Calibri"/>
              </a:rPr>
              <a:t>Stage 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réalisé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lang="fr-FR" sz="1600" dirty="0">
                <a:solidFill>
                  <a:srgbClr val="FFFFFF"/>
                </a:solidFill>
                <a:latin typeface="Calibri"/>
              </a:rPr>
              <a:t>chez 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de</a:t>
            </a:r>
            <a:r>
              <a:rPr lang="fr-FR" sz="1600" b="0" i="0" dirty="0">
                <a:solidFill>
                  <a:srgbClr val="FFFFFF"/>
                </a:solidFill>
                <a:latin typeface="Calibri"/>
              </a:rPr>
              <a:t> ALEXSYS Solutions</a:t>
            </a:r>
            <a:endParaRPr sz="1600" b="0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95415" y="3416025"/>
            <a:ext cx="1080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 err="1">
                <a:solidFill>
                  <a:srgbClr val="64748B"/>
                </a:solidFill>
                <a:latin typeface="Calibri"/>
              </a:rPr>
              <a:t>Fév</a:t>
            </a:r>
            <a:r>
              <a:rPr sz="140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lang="fr-FR" sz="1400" dirty="0">
                <a:solidFill>
                  <a:srgbClr val="64748B"/>
                </a:solidFill>
                <a:latin typeface="Calibri"/>
              </a:rPr>
              <a:t>-</a:t>
            </a:r>
            <a:r>
              <a:rPr sz="140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64748B"/>
                </a:solidFill>
                <a:latin typeface="Calibri"/>
              </a:rPr>
              <a:t>Juin</a:t>
            </a:r>
            <a:r>
              <a:rPr sz="1400" b="0" i="0" dirty="0">
                <a:solidFill>
                  <a:srgbClr val="64748B"/>
                </a:solidFill>
                <a:latin typeface="Calibri"/>
              </a:rPr>
              <a:t> 202</a:t>
            </a:r>
            <a:r>
              <a:rPr lang="fr-FR" sz="1400" b="0" i="0" dirty="0">
                <a:solidFill>
                  <a:srgbClr val="64748B"/>
                </a:solidFill>
                <a:latin typeface="Calibri"/>
              </a:rPr>
              <a:t>6</a:t>
            </a:r>
            <a:r>
              <a:rPr sz="140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lang="fr-FR" sz="1400" b="0" i="0" dirty="0">
                <a:solidFill>
                  <a:srgbClr val="64748B"/>
                </a:solidFill>
                <a:latin typeface="Calibri"/>
              </a:rPr>
              <a:t>-</a:t>
            </a:r>
            <a:r>
              <a:rPr sz="1400" b="0" i="0" dirty="0">
                <a:solidFill>
                  <a:srgbClr val="64748B"/>
                </a:solidFill>
                <a:latin typeface="Calibri"/>
              </a:rPr>
              <a:t> Durée du stage</a:t>
            </a:r>
            <a:r>
              <a:rPr lang="fr-FR" sz="1400" dirty="0">
                <a:solidFill>
                  <a:srgbClr val="64748B"/>
                </a:solidFill>
                <a:latin typeface="Calibri"/>
              </a:rPr>
              <a:t>: </a:t>
            </a:r>
            <a:r>
              <a:rPr sz="1400" b="0" i="0" dirty="0">
                <a:solidFill>
                  <a:srgbClr val="64748B"/>
                </a:solidFill>
                <a:latin typeface="Calibri"/>
              </a:rPr>
              <a:t>4 </a:t>
            </a:r>
            <a:r>
              <a:rPr sz="1400" b="0" i="0" dirty="0" err="1">
                <a:solidFill>
                  <a:srgbClr val="64748B"/>
                </a:solidFill>
                <a:latin typeface="Calibri"/>
              </a:rPr>
              <a:t>mois</a:t>
            </a:r>
            <a:endParaRPr sz="1400" b="0" i="0" dirty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95415" y="5076001"/>
            <a:ext cx="5040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FFFFFF"/>
                </a:solidFill>
                <a:latin typeface="Calibri"/>
              </a:rPr>
              <a:t>Stagiaire : Souleymane </a:t>
            </a:r>
            <a:r>
              <a:rPr lang="fr-FR" sz="1300" b="1" i="0" dirty="0">
                <a:solidFill>
                  <a:srgbClr val="FFFFFF"/>
                </a:solidFill>
                <a:latin typeface="Calibri"/>
              </a:rPr>
              <a:t>TRAORE</a:t>
            </a:r>
            <a:endParaRPr sz="13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292224" y="4953469"/>
            <a:ext cx="5040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 dirty="0" err="1">
                <a:solidFill>
                  <a:srgbClr val="FFFFFF"/>
                </a:solidFill>
                <a:latin typeface="Calibri"/>
              </a:rPr>
              <a:t>Encadrant</a:t>
            </a:r>
            <a:r>
              <a:rPr sz="1300" b="0" i="0" dirty="0">
                <a:solidFill>
                  <a:srgbClr val="FFFFFF"/>
                </a:solidFill>
                <a:latin typeface="Calibri"/>
              </a:rPr>
              <a:t> :</a:t>
            </a:r>
            <a:r>
              <a:rPr lang="fr-FR" sz="1300" dirty="0">
                <a:solidFill>
                  <a:srgbClr val="FFFFFF"/>
                </a:solidFill>
                <a:latin typeface="Calibri"/>
              </a:rPr>
              <a:t>M. Amine SADEK</a:t>
            </a:r>
            <a:endParaRPr sz="1300" b="0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0" y="6678000"/>
            <a:ext cx="12193200" cy="180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200" cy="792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792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0000" y="125999"/>
            <a:ext cx="104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Contexte &amp; Problématique Métier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40000" y="216000"/>
            <a:ext cx="7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97316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8000" y="4050000"/>
            <a:ext cx="54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97316"/>
                </a:solidFill>
                <a:latin typeface="Calibri"/>
              </a:rPr>
              <a:t>CONTEXTE</a:t>
            </a:r>
          </a:p>
        </p:txBody>
      </p:sp>
      <p:sp>
        <p:nvSpPr>
          <p:cNvPr id="7" name="Rectangle 6"/>
          <p:cNvSpPr/>
          <p:nvPr/>
        </p:nvSpPr>
        <p:spPr>
          <a:xfrm>
            <a:off x="468000" y="4265999"/>
            <a:ext cx="4564132" cy="45719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76000" y="4338000"/>
            <a:ext cx="522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F172A"/>
                </a:solidFill>
                <a:latin typeface="Calibri"/>
              </a:rPr>
              <a:t>▸  Environnements industriels à risque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00" y="4680066"/>
            <a:ext cx="522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0F172A"/>
                </a:solidFill>
                <a:latin typeface="Calibri"/>
              </a:rPr>
              <a:t>▸  Port des EPI = obligation </a:t>
            </a:r>
            <a:r>
              <a:rPr sz="1400" b="0" i="0" dirty="0" err="1">
                <a:solidFill>
                  <a:srgbClr val="0F172A"/>
                </a:solidFill>
                <a:latin typeface="Calibri"/>
              </a:rPr>
              <a:t>réglementaire</a:t>
            </a:r>
            <a:endParaRPr sz="1400" b="0" i="0" dirty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58000" y="4958998"/>
            <a:ext cx="522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0F172A"/>
                </a:solidFill>
                <a:latin typeface="Calibri"/>
              </a:rPr>
              <a:t>▸  </a:t>
            </a:r>
            <a:r>
              <a:rPr sz="1400" b="0" i="0" dirty="0" err="1">
                <a:solidFill>
                  <a:srgbClr val="0F172A"/>
                </a:solidFill>
                <a:latin typeface="Calibri"/>
              </a:rPr>
              <a:t>Contrôles</a:t>
            </a:r>
            <a:r>
              <a:rPr sz="1400" b="0" i="0" dirty="0">
                <a:solidFill>
                  <a:srgbClr val="0F172A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0F172A"/>
                </a:solidFill>
                <a:latin typeface="Calibri"/>
              </a:rPr>
              <a:t>manuels</a:t>
            </a:r>
            <a:r>
              <a:rPr sz="1400" b="0" i="0" dirty="0">
                <a:solidFill>
                  <a:srgbClr val="0F172A"/>
                </a:solidFill>
                <a:latin typeface="Calibri"/>
              </a:rPr>
              <a:t> = </a:t>
            </a:r>
            <a:r>
              <a:rPr sz="1400" b="0" i="0" dirty="0" err="1">
                <a:solidFill>
                  <a:srgbClr val="0F172A"/>
                </a:solidFill>
                <a:latin typeface="Calibri"/>
              </a:rPr>
              <a:t>ponctuels</a:t>
            </a:r>
            <a:r>
              <a:rPr sz="1400" b="0" i="0" dirty="0">
                <a:solidFill>
                  <a:srgbClr val="0F172A"/>
                </a:solidFill>
                <a:latin typeface="Calibri"/>
              </a:rPr>
              <a:t> &amp; </a:t>
            </a:r>
            <a:r>
              <a:rPr sz="1400" b="0" i="0" dirty="0" err="1">
                <a:solidFill>
                  <a:srgbClr val="0F172A"/>
                </a:solidFill>
                <a:latin typeface="Calibri"/>
              </a:rPr>
              <a:t>incomplets</a:t>
            </a:r>
            <a:endParaRPr sz="1400" b="0" i="0" dirty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58000" y="5283000"/>
            <a:ext cx="522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0F172A"/>
                </a:solidFill>
                <a:latin typeface="Calibri"/>
              </a:rPr>
              <a:t>▸  </a:t>
            </a:r>
            <a:r>
              <a:rPr sz="1400" b="0" i="0" dirty="0" err="1">
                <a:solidFill>
                  <a:srgbClr val="0F172A"/>
                </a:solidFill>
                <a:latin typeface="Calibri"/>
              </a:rPr>
              <a:t>Aucune</a:t>
            </a:r>
            <a:r>
              <a:rPr sz="1400" b="0" i="0" dirty="0">
                <a:solidFill>
                  <a:srgbClr val="0F172A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0F172A"/>
                </a:solidFill>
                <a:latin typeface="Calibri"/>
              </a:rPr>
              <a:t>traçabilité</a:t>
            </a:r>
            <a:r>
              <a:rPr sz="1400" b="0" i="0" dirty="0">
                <a:solidFill>
                  <a:srgbClr val="0F172A"/>
                </a:solidFill>
                <a:latin typeface="Calibri"/>
              </a:rPr>
              <a:t> des non-</a:t>
            </a:r>
            <a:r>
              <a:rPr sz="1400" b="0" i="0" dirty="0" err="1">
                <a:solidFill>
                  <a:srgbClr val="0F172A"/>
                </a:solidFill>
                <a:latin typeface="Calibri"/>
              </a:rPr>
              <a:t>conformités</a:t>
            </a:r>
            <a:endParaRPr sz="1400" b="0" i="0" dirty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76000" y="5544721"/>
            <a:ext cx="522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0F172A"/>
                </a:solidFill>
                <a:latin typeface="Calibri"/>
              </a:rPr>
              <a:t>▸  </a:t>
            </a:r>
            <a:r>
              <a:rPr sz="1400" b="0" i="0" dirty="0" err="1">
                <a:solidFill>
                  <a:srgbClr val="0F172A"/>
                </a:solidFill>
                <a:latin typeface="Calibri"/>
              </a:rPr>
              <a:t>Réaction</a:t>
            </a:r>
            <a:r>
              <a:rPr sz="1400" b="0" i="0" dirty="0">
                <a:solidFill>
                  <a:srgbClr val="0F172A"/>
                </a:solidFill>
                <a:latin typeface="Calibri"/>
              </a:rPr>
              <a:t> après accident </a:t>
            </a:r>
            <a:r>
              <a:rPr sz="1400" b="0" i="0" dirty="0" err="1">
                <a:solidFill>
                  <a:srgbClr val="0F172A"/>
                </a:solidFill>
                <a:latin typeface="Calibri"/>
              </a:rPr>
              <a:t>plutôt</a:t>
            </a:r>
            <a:r>
              <a:rPr sz="1400" b="0" i="0" dirty="0">
                <a:solidFill>
                  <a:srgbClr val="0F172A"/>
                </a:solidFill>
                <a:latin typeface="Calibri"/>
              </a:rPr>
              <a:t> que </a:t>
            </a:r>
            <a:r>
              <a:rPr sz="1400" b="0" i="0" dirty="0" err="1">
                <a:solidFill>
                  <a:srgbClr val="0F172A"/>
                </a:solidFill>
                <a:latin typeface="Calibri"/>
              </a:rPr>
              <a:t>prévention</a:t>
            </a:r>
            <a:endParaRPr sz="1400" b="0" i="0" dirty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392132" y="1458000"/>
            <a:ext cx="6515258" cy="280800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557309" y="1773000"/>
            <a:ext cx="52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F97316"/>
                </a:solidFill>
                <a:latin typeface="Calibri"/>
              </a:rPr>
              <a:t>PROBLÉMATIQUE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28000" y="3005999"/>
            <a:ext cx="5112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 dirty="0">
                <a:solidFill>
                  <a:srgbClr val="FFFFFF"/>
                </a:solidFill>
                <a:latin typeface="Calibri"/>
              </a:rPr>
              <a:t>"Comment </a:t>
            </a:r>
            <a:r>
              <a:rPr sz="1400" b="0" i="1" dirty="0" err="1">
                <a:solidFill>
                  <a:srgbClr val="FFFFFF"/>
                </a:solidFill>
                <a:latin typeface="Calibri"/>
              </a:rPr>
              <a:t>détecter</a:t>
            </a:r>
            <a:r>
              <a:rPr sz="1400" b="0" i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400" b="0" i="1" dirty="0" err="1">
                <a:solidFill>
                  <a:srgbClr val="FFFFFF"/>
                </a:solidFill>
                <a:latin typeface="Calibri"/>
              </a:rPr>
              <a:t>automatiquement</a:t>
            </a:r>
            <a:r>
              <a:rPr sz="1400" b="0" i="1" dirty="0">
                <a:solidFill>
                  <a:srgbClr val="FFFFFF"/>
                </a:solidFill>
                <a:latin typeface="Calibri"/>
              </a:rPr>
              <a:t> les non-</a:t>
            </a:r>
            <a:r>
              <a:rPr sz="1400" b="0" i="1" dirty="0" err="1">
                <a:solidFill>
                  <a:srgbClr val="FFFFFF"/>
                </a:solidFill>
                <a:latin typeface="Calibri"/>
              </a:rPr>
              <a:t>conformités</a:t>
            </a:r>
            <a:r>
              <a:rPr sz="1400" b="0" i="1" dirty="0">
                <a:solidFill>
                  <a:srgbClr val="FFFFFF"/>
                </a:solidFill>
                <a:latin typeface="Calibri"/>
              </a:rPr>
              <a:t> EPI, </a:t>
            </a:r>
            <a:r>
              <a:rPr sz="1400" b="0" i="1" dirty="0" err="1">
                <a:solidFill>
                  <a:srgbClr val="FFFFFF"/>
                </a:solidFill>
                <a:latin typeface="Calibri"/>
              </a:rPr>
              <a:t>centraliser</a:t>
            </a:r>
            <a:r>
              <a:rPr sz="1400" b="0" i="1" dirty="0">
                <a:solidFill>
                  <a:srgbClr val="FFFFFF"/>
                </a:solidFill>
                <a:latin typeface="Calibri"/>
              </a:rPr>
              <a:t> les incidents et </a:t>
            </a:r>
            <a:r>
              <a:rPr sz="1400" b="0" i="1" dirty="0" err="1">
                <a:solidFill>
                  <a:srgbClr val="FFFFFF"/>
                </a:solidFill>
                <a:latin typeface="Calibri"/>
              </a:rPr>
              <a:t>garantir</a:t>
            </a:r>
            <a:r>
              <a:rPr sz="1400" b="0" i="1" dirty="0">
                <a:solidFill>
                  <a:srgbClr val="FFFFFF"/>
                </a:solidFill>
                <a:latin typeface="Calibri"/>
              </a:rPr>
              <a:t> un </a:t>
            </a:r>
            <a:r>
              <a:rPr sz="1400" b="0" i="1" dirty="0" err="1">
                <a:solidFill>
                  <a:srgbClr val="FFFFFF"/>
                </a:solidFill>
                <a:latin typeface="Calibri"/>
              </a:rPr>
              <a:t>suivi</a:t>
            </a:r>
            <a:r>
              <a:rPr sz="1400" b="0" i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400" b="0" i="1" dirty="0" err="1">
                <a:solidFill>
                  <a:srgbClr val="FFFFFF"/>
                </a:solidFill>
                <a:latin typeface="Calibri"/>
              </a:rPr>
              <a:t>jusqu'à</a:t>
            </a:r>
            <a:r>
              <a:rPr sz="1400" b="0" i="1" dirty="0">
                <a:solidFill>
                  <a:srgbClr val="FFFFFF"/>
                </a:solidFill>
                <a:latin typeface="Calibri"/>
              </a:rPr>
              <a:t> la </a:t>
            </a:r>
            <a:r>
              <a:rPr sz="1400" b="0" i="1" dirty="0" err="1">
                <a:solidFill>
                  <a:srgbClr val="FFFFFF"/>
                </a:solidFill>
                <a:latin typeface="Calibri"/>
              </a:rPr>
              <a:t>résolution</a:t>
            </a:r>
            <a:r>
              <a:rPr sz="1400" b="0" i="1" dirty="0">
                <a:solidFill>
                  <a:srgbClr val="FFFFFF"/>
                </a:solidFill>
                <a:latin typeface="Calibri"/>
              </a:rPr>
              <a:t> ?"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95390" y="2327833"/>
            <a:ext cx="511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1200" b="1" i="0" dirty="0">
                <a:solidFill>
                  <a:srgbClr val="10B981"/>
                </a:solidFill>
                <a:latin typeface="Calibri"/>
              </a:rPr>
              <a:t>Solution</a:t>
            </a:r>
            <a:r>
              <a:rPr sz="1200" b="1" i="0" dirty="0">
                <a:solidFill>
                  <a:srgbClr val="10B981"/>
                </a:solidFill>
                <a:latin typeface="Calibri"/>
              </a:rPr>
              <a:t> </a:t>
            </a:r>
            <a:r>
              <a:rPr lang="fr-FR" sz="1200" b="1" dirty="0">
                <a:solidFill>
                  <a:srgbClr val="10B981"/>
                </a:solidFill>
                <a:latin typeface="Calibri"/>
              </a:rPr>
              <a:t>: </a:t>
            </a:r>
            <a:r>
              <a:rPr sz="1200" b="1" i="0" dirty="0">
                <a:solidFill>
                  <a:srgbClr val="10B981"/>
                </a:solidFill>
                <a:latin typeface="Calibri"/>
              </a:rPr>
              <a:t> </a:t>
            </a:r>
            <a:r>
              <a:rPr sz="1200" b="1" i="0" dirty="0" err="1">
                <a:solidFill>
                  <a:srgbClr val="10B981"/>
                </a:solidFill>
                <a:latin typeface="Calibri"/>
              </a:rPr>
              <a:t>Plateforme</a:t>
            </a:r>
            <a:r>
              <a:rPr sz="1200" b="1" i="0" dirty="0">
                <a:solidFill>
                  <a:srgbClr val="10B981"/>
                </a:solidFill>
                <a:latin typeface="Calibri"/>
              </a:rPr>
              <a:t> HSE </a:t>
            </a:r>
            <a:r>
              <a:rPr sz="1200" b="1" i="0" dirty="0" err="1">
                <a:solidFill>
                  <a:srgbClr val="10B981"/>
                </a:solidFill>
                <a:latin typeface="Calibri"/>
              </a:rPr>
              <a:t>intelligente</a:t>
            </a:r>
            <a:r>
              <a:rPr sz="1200" b="1" i="0" dirty="0">
                <a:solidFill>
                  <a:srgbClr val="10B981"/>
                </a:solidFill>
                <a:latin typeface="Calibri"/>
              </a:rPr>
              <a:t> full-stack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78000"/>
            <a:ext cx="12193200" cy="18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200" cy="792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792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0000" y="125999"/>
            <a:ext cx="104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Architecture Globale de la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40000" y="216000"/>
            <a:ext cx="7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97316"/>
                </a:solidFill>
                <a:latin typeface="Calibr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148" y="1222258"/>
            <a:ext cx="7920000" cy="1007999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68148" y="1330258"/>
            <a:ext cx="14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  <a:latin typeface="Calibri"/>
              </a:rP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68148" y="1654258"/>
            <a:ext cx="75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React · TypeScript · Vite · Tailwind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88148" y="3104129"/>
            <a:ext cx="7920000" cy="1007999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68148" y="3212129"/>
            <a:ext cx="14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68148" y="3536129"/>
            <a:ext cx="75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Django 4.2 · DRF · YOLOv8 · ReportLab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88148" y="4958129"/>
            <a:ext cx="7920000" cy="1007999"/>
          </a:xfrm>
          <a:prstGeom prst="roundRect">
            <a:avLst>
              <a:gd name="adj" fmla="val 50000"/>
            </a:avLst>
          </a:prstGeom>
          <a:solidFill>
            <a:srgbClr val="FFEDD5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692148" y="5066129"/>
            <a:ext cx="144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97316"/>
                </a:solidFill>
                <a:latin typeface="Calibri"/>
              </a:rPr>
              <a:t>CLOUD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86148" y="5390129"/>
            <a:ext cx="7560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AWS EC2 · S3 · RDS · Cloudflare CDN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12148" y="936000"/>
            <a:ext cx="2375852" cy="511200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29456" y="1564259"/>
            <a:ext cx="1584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F97316"/>
                </a:solidFill>
                <a:latin typeface="Calibri"/>
              </a:rPr>
              <a:t>Points </a:t>
            </a:r>
            <a:r>
              <a:rPr sz="1100" b="1" i="0" dirty="0" err="1">
                <a:solidFill>
                  <a:srgbClr val="F97316"/>
                </a:solidFill>
                <a:latin typeface="Calibri"/>
              </a:rPr>
              <a:t>clés</a:t>
            </a:r>
            <a:endParaRPr sz="1100" b="1" i="0" dirty="0">
              <a:solidFill>
                <a:srgbClr val="F97316"/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194309" y="2294852"/>
            <a:ext cx="151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• Auth JWT HttpOnly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54042" y="2637870"/>
            <a:ext cx="151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FFFFFF"/>
                </a:solidFill>
                <a:latin typeface="Calibri"/>
              </a:rPr>
              <a:t>• CORS </a:t>
            </a:r>
            <a:r>
              <a:rPr sz="1000" b="0" i="0" dirty="0" err="1">
                <a:solidFill>
                  <a:srgbClr val="FFFFFF"/>
                </a:solidFill>
                <a:latin typeface="Calibri"/>
              </a:rPr>
              <a:t>sécurisé</a:t>
            </a:r>
            <a:endParaRPr sz="1000" b="0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254042" y="2959110"/>
            <a:ext cx="151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FFFFFF"/>
                </a:solidFill>
                <a:latin typeface="Calibri"/>
              </a:rPr>
              <a:t>• S3 pour </a:t>
            </a:r>
            <a:r>
              <a:rPr sz="1000" b="0" i="0" dirty="0" err="1">
                <a:solidFill>
                  <a:srgbClr val="FFFFFF"/>
                </a:solidFill>
                <a:latin typeface="Calibri"/>
              </a:rPr>
              <a:t>médias</a:t>
            </a:r>
            <a:endParaRPr sz="1000" b="0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254042" y="3277018"/>
            <a:ext cx="151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FFFFFF"/>
                </a:solidFill>
                <a:latin typeface="Calibri"/>
              </a:rPr>
              <a:t>• Nginx + </a:t>
            </a:r>
            <a:r>
              <a:rPr sz="1000" b="0" i="0" dirty="0" err="1">
                <a:solidFill>
                  <a:srgbClr val="FFFFFF"/>
                </a:solidFill>
                <a:latin typeface="Calibri"/>
              </a:rPr>
              <a:t>Gunicorn</a:t>
            </a:r>
            <a:endParaRPr sz="1000" b="0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254042" y="3589110"/>
            <a:ext cx="151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FFFFFF"/>
                </a:solidFill>
                <a:latin typeface="Calibri"/>
              </a:rPr>
              <a:t>• CI/CD </a:t>
            </a:r>
            <a:r>
              <a:rPr sz="1000" b="0" i="0" dirty="0" err="1">
                <a:solidFill>
                  <a:srgbClr val="FFFFFF"/>
                </a:solidFill>
                <a:latin typeface="Calibri"/>
              </a:rPr>
              <a:t>CodeDeploy</a:t>
            </a:r>
            <a:endParaRPr sz="1000" b="0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0254042" y="3987868"/>
            <a:ext cx="151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FFFFFF"/>
                </a:solidFill>
                <a:latin typeface="Calibri"/>
              </a:rPr>
              <a:t>• CDN Cloudflare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678000"/>
            <a:ext cx="12193200" cy="18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200" cy="792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792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0000" y="125999"/>
            <a:ext cx="104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Stack Technologique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40000" y="216000"/>
            <a:ext cx="7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97316"/>
                </a:solidFill>
                <a:latin typeface="Calibr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3588" y="2585691"/>
            <a:ext cx="2808000" cy="288000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80000" y="1935149"/>
            <a:ext cx="2808000" cy="792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1958" y="2725300"/>
            <a:ext cx="259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F97316"/>
                </a:solidFill>
                <a:latin typeface="Calibri"/>
              </a:rPr>
              <a:t>IA &amp; 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7310" y="3257752"/>
            <a:ext cx="2556001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FFFFFF"/>
                </a:solidFill>
                <a:latin typeface="Calibri"/>
              </a:rPr>
              <a:t>YOLOv8 (</a:t>
            </a:r>
            <a:r>
              <a:rPr sz="1300" b="0" i="0" dirty="0" err="1">
                <a:solidFill>
                  <a:srgbClr val="FFFFFF"/>
                </a:solidFill>
                <a:latin typeface="Calibri"/>
              </a:rPr>
              <a:t>ultralytics</a:t>
            </a:r>
            <a:r>
              <a:rPr sz="1300" b="0" i="0" dirty="0">
                <a:solidFill>
                  <a:srgbClr val="FFFFFF"/>
                </a:solidFill>
                <a:latin typeface="Calibri"/>
              </a:rPr>
              <a:t>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2793" y="3593691"/>
            <a:ext cx="2556001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FFFFFF"/>
                </a:solidFill>
                <a:latin typeface="Calibri"/>
              </a:rPr>
              <a:t>OpenCV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8792" y="3910666"/>
            <a:ext cx="2556001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FFFFFF"/>
                </a:solidFill>
                <a:latin typeface="Calibri"/>
              </a:rPr>
              <a:t>Python 3.11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1998" y="4292531"/>
            <a:ext cx="2556001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FFFFFF"/>
                </a:solidFill>
                <a:latin typeface="Calibri"/>
              </a:rPr>
              <a:t>best.pt (custom)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29589" y="2621690"/>
            <a:ext cx="2808000" cy="288000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29589" y="2247067"/>
            <a:ext cx="2808000" cy="89997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67148" y="2917800"/>
            <a:ext cx="259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3B82F6"/>
                </a:solidFill>
                <a:latin typeface="Calibri"/>
              </a:rPr>
              <a:t>Frontend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00793" y="3429000"/>
            <a:ext cx="2556001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React 18 + TypeScript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00793" y="3915000"/>
            <a:ext cx="2556001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Vite + Tailwind CSS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00793" y="4401000"/>
            <a:ext cx="2556001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Recharts (KPIs)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00793" y="4887000"/>
            <a:ext cx="2556001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React Router v6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44000" y="2621690"/>
            <a:ext cx="2808000" cy="2880000"/>
          </a:xfrm>
          <a:prstGeom prst="roundRect">
            <a:avLst>
              <a:gd name="adj" fmla="val 50000"/>
            </a:avLst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56794" y="1815300"/>
            <a:ext cx="2808000" cy="79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90381" y="2865169"/>
            <a:ext cx="259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10B981"/>
                </a:solidFill>
                <a:latin typeface="Calibri"/>
              </a:rPr>
              <a:t>Backend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02410" y="3536531"/>
            <a:ext cx="2556001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FFFFFF"/>
                </a:solidFill>
                <a:latin typeface="Calibri"/>
              </a:rPr>
              <a:t>Django 4.2 + DRF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02410" y="4022531"/>
            <a:ext cx="2556001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JWT HttpOnly cookies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02410" y="4508531"/>
            <a:ext cx="2556001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PostgreSQL / SQLite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02410" y="4994531"/>
            <a:ext cx="2556001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 err="1">
                <a:solidFill>
                  <a:srgbClr val="FFFFFF"/>
                </a:solidFill>
                <a:latin typeface="Calibri"/>
              </a:rPr>
              <a:t>ReportLab</a:t>
            </a:r>
            <a:r>
              <a:rPr sz="1300" b="0" i="0" dirty="0">
                <a:solidFill>
                  <a:srgbClr val="FFFFFF"/>
                </a:solidFill>
                <a:latin typeface="Calibri"/>
              </a:rPr>
              <a:t> (PDF)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432000" y="2603689"/>
            <a:ext cx="2808000" cy="2880000"/>
          </a:xfrm>
          <a:prstGeom prst="roundRect">
            <a:avLst>
              <a:gd name="adj" fmla="val 50000"/>
            </a:avLst>
          </a:prstGeom>
          <a:solidFill>
            <a:srgbClr val="4E3C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432000" y="2207467"/>
            <a:ext cx="2808000" cy="7920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294144" y="2824431"/>
            <a:ext cx="259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EAB308"/>
                </a:solidFill>
                <a:latin typeface="Calibri"/>
              </a:rPr>
              <a:t>Infra &amp; Cloud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61999" y="3456008"/>
            <a:ext cx="2556001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FFFFFF"/>
                </a:solidFill>
                <a:latin typeface="Calibri"/>
              </a:rPr>
              <a:t>AWS EC2 + </a:t>
            </a:r>
            <a:r>
              <a:rPr sz="1300" b="0" i="0" dirty="0" err="1">
                <a:solidFill>
                  <a:srgbClr val="FFFFFF"/>
                </a:solidFill>
                <a:latin typeface="Calibri"/>
              </a:rPr>
              <a:t>CodeDeploy</a:t>
            </a:r>
            <a:endParaRPr sz="1300" b="0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0061999" y="3942008"/>
            <a:ext cx="2556001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FFFFFF"/>
                </a:solidFill>
                <a:latin typeface="Calibri"/>
              </a:rPr>
              <a:t>AWS S3 + RDS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61999" y="4428008"/>
            <a:ext cx="2556001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Cloudflare CDN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61999" y="4914008"/>
            <a:ext cx="2556001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FFFFFF"/>
                </a:solidFill>
                <a:latin typeface="Calibri"/>
              </a:rPr>
              <a:t>Nginx + </a:t>
            </a:r>
            <a:r>
              <a:rPr sz="1300" b="0" i="0" dirty="0" err="1">
                <a:solidFill>
                  <a:srgbClr val="FFFFFF"/>
                </a:solidFill>
                <a:latin typeface="Calibri"/>
              </a:rPr>
              <a:t>Gunicorn</a:t>
            </a:r>
            <a:endParaRPr sz="1300" b="0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0" y="6678000"/>
            <a:ext cx="12193200" cy="18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8">
            <a:extLst>
              <a:ext uri="{FF2B5EF4-FFF2-40B4-BE49-F238E27FC236}">
                <a16:creationId xmlns:a16="http://schemas.microsoft.com/office/drawing/2014/main" id="{60BBCC4D-05F2-D8DD-D764-11C07B67FD49}"/>
              </a:ext>
            </a:extLst>
          </p:cNvPr>
          <p:cNvSpPr txBox="1"/>
          <p:nvPr/>
        </p:nvSpPr>
        <p:spPr>
          <a:xfrm>
            <a:off x="789175" y="4706178"/>
            <a:ext cx="2556001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1300" b="0" i="0" dirty="0">
                <a:solidFill>
                  <a:srgbClr val="FFFFFF"/>
                </a:solidFill>
                <a:latin typeface="Calibri"/>
              </a:rPr>
              <a:t>LLLM Gemini Flash</a:t>
            </a:r>
            <a:endParaRPr sz="1300" b="0" i="0" dirty="0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200" cy="792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792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0000" y="125999"/>
            <a:ext cx="104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Dataset &amp; Entraînement du Modèle YOLOv8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40000" y="216000"/>
            <a:ext cx="7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97316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00" y="1680999"/>
            <a:ext cx="54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97316"/>
                </a:solidFill>
                <a:latin typeface="Calibri"/>
              </a:rPr>
              <a:t>DATASET</a:t>
            </a:r>
          </a:p>
        </p:txBody>
      </p:sp>
      <p:sp>
        <p:nvSpPr>
          <p:cNvPr id="7" name="Rectangle 6"/>
          <p:cNvSpPr/>
          <p:nvPr/>
        </p:nvSpPr>
        <p:spPr>
          <a:xfrm>
            <a:off x="288000" y="1896999"/>
            <a:ext cx="5040000" cy="216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96000" y="1968999"/>
            <a:ext cx="18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Classes détectées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68000" y="1968999"/>
            <a:ext cx="34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Casque · Gilet · Gants · Lunettes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6000" y="2256999"/>
            <a:ext cx="18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Source des données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67999" y="2256999"/>
            <a:ext cx="36719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0F172A"/>
                </a:solidFill>
                <a:latin typeface="Calibri"/>
              </a:rPr>
              <a:t>Dataset p</a:t>
            </a:r>
            <a:r>
              <a:rPr lang="fr-FR" sz="1200" b="1" i="0" dirty="0" err="1">
                <a:solidFill>
                  <a:srgbClr val="0F172A"/>
                </a:solidFill>
                <a:latin typeface="Calibri"/>
              </a:rPr>
              <a:t>ublic</a:t>
            </a:r>
            <a:r>
              <a:rPr lang="fr-FR" sz="1200" b="1" i="0" dirty="0">
                <a:solidFill>
                  <a:srgbClr val="0F172A"/>
                </a:solidFill>
                <a:latin typeface="Calibri"/>
              </a:rPr>
              <a:t> + annotations custom(sur </a:t>
            </a:r>
            <a:r>
              <a:rPr lang="fr-FR" sz="1200" b="1" i="0" dirty="0" err="1">
                <a:solidFill>
                  <a:srgbClr val="0F172A"/>
                </a:solidFill>
                <a:latin typeface="Calibri"/>
              </a:rPr>
              <a:t>Robotflow</a:t>
            </a:r>
            <a:endParaRPr sz="1200" b="1" i="0" dirty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96000" y="2544999"/>
            <a:ext cx="18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Annotation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68000" y="2544999"/>
            <a:ext cx="342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 err="1">
                <a:solidFill>
                  <a:srgbClr val="0F172A"/>
                </a:solidFill>
                <a:latin typeface="Calibri"/>
              </a:rPr>
              <a:t>Roboflow</a:t>
            </a:r>
            <a:r>
              <a:rPr sz="1200" b="1" i="0" dirty="0">
                <a:solidFill>
                  <a:srgbClr val="0F172A"/>
                </a:solidFill>
                <a:latin typeface="Calibri"/>
              </a:rPr>
              <a:t> </a:t>
            </a:r>
            <a:r>
              <a:rPr lang="fr-FR" sz="1200" b="1" dirty="0">
                <a:solidFill>
                  <a:srgbClr val="0F172A"/>
                </a:solidFill>
                <a:latin typeface="Calibri"/>
              </a:rPr>
              <a:t>-</a:t>
            </a:r>
            <a:r>
              <a:rPr sz="1200" b="1" i="0" dirty="0">
                <a:solidFill>
                  <a:srgbClr val="0F172A"/>
                </a:solidFill>
                <a:latin typeface="Calibri"/>
              </a:rPr>
              <a:t> format YOLO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000" y="2832999"/>
            <a:ext cx="18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64748B"/>
                </a:solidFill>
                <a:latin typeface="Calibri"/>
              </a:rPr>
              <a:t>Split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68000" y="2832999"/>
            <a:ext cx="34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Train 70% / Val 20% / Test 10%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6000" y="3120999"/>
            <a:ext cx="18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 err="1">
                <a:solidFill>
                  <a:srgbClr val="64748B"/>
                </a:solidFill>
                <a:latin typeface="Calibri"/>
              </a:rPr>
              <a:t>Prétraitement</a:t>
            </a:r>
            <a:endParaRPr sz="1200" b="0" i="0" dirty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268000" y="3120999"/>
            <a:ext cx="342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 err="1">
                <a:solidFill>
                  <a:srgbClr val="0F172A"/>
                </a:solidFill>
                <a:latin typeface="Calibri"/>
              </a:rPr>
              <a:t>Redimensionnement</a:t>
            </a:r>
            <a:r>
              <a:rPr sz="1200" b="1" i="0" dirty="0">
                <a:solidFill>
                  <a:srgbClr val="0F172A"/>
                </a:solidFill>
                <a:latin typeface="Calibri"/>
              </a:rPr>
              <a:t> 640×640 </a:t>
            </a:r>
            <a:r>
              <a:rPr sz="1200" b="1" i="0" dirty="0" err="1">
                <a:solidFill>
                  <a:srgbClr val="0F172A"/>
                </a:solidFill>
                <a:latin typeface="Calibri"/>
              </a:rPr>
              <a:t>px</a:t>
            </a:r>
            <a:r>
              <a:rPr lang="fr-FR" sz="1200" b="1" i="0" dirty="0">
                <a:solidFill>
                  <a:srgbClr val="0F172A"/>
                </a:solidFill>
                <a:latin typeface="Calibri"/>
              </a:rPr>
              <a:t> et Rotation</a:t>
            </a:r>
            <a:endParaRPr sz="1200" b="1" i="0" dirty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587997" y="1641500"/>
            <a:ext cx="54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  <a:latin typeface="Calibri"/>
              </a:rPr>
              <a:t>ENTRAÎNEMENT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7997" y="1857500"/>
            <a:ext cx="5040000" cy="216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95997" y="1929500"/>
            <a:ext cx="2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Modèle base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7114" y="1929500"/>
            <a:ext cx="428288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0F172A"/>
                </a:solidFill>
                <a:latin typeface="Calibri"/>
              </a:rPr>
              <a:t>YOLOv8n</a:t>
            </a:r>
            <a:r>
              <a:rPr lang="fr-FR" sz="1200" b="1" i="0" dirty="0">
                <a:solidFill>
                  <a:srgbClr val="0F172A"/>
                </a:solidFill>
                <a:latin typeface="Calibri"/>
              </a:rPr>
              <a:t>/</a:t>
            </a:r>
            <a:r>
              <a:rPr sz="1200" b="1" i="0" dirty="0">
                <a:solidFill>
                  <a:srgbClr val="0F172A"/>
                </a:solidFill>
                <a:latin typeface="Calibri"/>
              </a:rPr>
              <a:t>YOLOv8s</a:t>
            </a:r>
            <a:r>
              <a:rPr lang="fr-FR" sz="1200" b="1" dirty="0">
                <a:solidFill>
                  <a:srgbClr val="0F172A"/>
                </a:solidFill>
                <a:latin typeface="Calibri"/>
              </a:rPr>
              <a:t>(Après avoir entrainé O6 versions différentes</a:t>
            </a:r>
            <a:endParaRPr sz="1200" b="1" i="0" dirty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731998" y="2220998"/>
            <a:ext cx="2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64748B"/>
                </a:solidFill>
                <a:latin typeface="Calibri"/>
              </a:rPr>
              <a:t>Epochs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3998" y="2220998"/>
            <a:ext cx="252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1200" b="1" dirty="0">
                <a:solidFill>
                  <a:srgbClr val="0F172A"/>
                </a:solidFill>
                <a:latin typeface="Calibri"/>
              </a:rPr>
              <a:t>500</a:t>
            </a:r>
            <a:r>
              <a:rPr sz="1200" b="1" i="0" dirty="0">
                <a:solidFill>
                  <a:srgbClr val="0F172A"/>
                </a:solidFill>
                <a:latin typeface="Calibri"/>
              </a:rPr>
              <a:t> epochs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31998" y="2508998"/>
            <a:ext cx="2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Batch size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3998" y="2508998"/>
            <a:ext cx="252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1200" b="1" dirty="0">
                <a:solidFill>
                  <a:srgbClr val="0F172A"/>
                </a:solidFill>
                <a:latin typeface="Calibri"/>
              </a:rPr>
              <a:t>64</a:t>
            </a:r>
            <a:endParaRPr sz="1200" b="1" i="0" dirty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731998" y="2796998"/>
            <a:ext cx="2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Image size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3998" y="2796998"/>
            <a:ext cx="2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640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31998" y="3084998"/>
            <a:ext cx="2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Optimizer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3998" y="3084998"/>
            <a:ext cx="252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0F172A"/>
                </a:solidFill>
                <a:latin typeface="Calibri"/>
              </a:rPr>
              <a:t>SGD</a:t>
            </a:r>
            <a:r>
              <a:rPr lang="fr-FR" sz="1200" b="1" dirty="0">
                <a:solidFill>
                  <a:srgbClr val="0F172A"/>
                </a:solidFill>
                <a:latin typeface="Calibri"/>
              </a:rPr>
              <a:t>&amp;Adam</a:t>
            </a:r>
            <a:endParaRPr sz="1200" b="1" i="0" dirty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731998" y="3372998"/>
            <a:ext cx="2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64748B"/>
                </a:solidFill>
                <a:latin typeface="Calibri"/>
              </a:rPr>
              <a:t>Hardware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3998" y="3372998"/>
            <a:ext cx="252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0F172A"/>
                </a:solidFill>
                <a:latin typeface="Calibri"/>
              </a:rPr>
              <a:t>GPU 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60000" y="4320000"/>
            <a:ext cx="2700000" cy="126000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60000" y="4500000"/>
            <a:ext cx="270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800" b="1" dirty="0">
                <a:solidFill>
                  <a:srgbClr val="F97316"/>
                </a:solidFill>
                <a:latin typeface="Calibri"/>
              </a:rPr>
              <a:t>90</a:t>
            </a:r>
            <a:r>
              <a:rPr sz="2800" b="1" i="0" dirty="0">
                <a:solidFill>
                  <a:srgbClr val="F97316"/>
                </a:solidFill>
                <a:latin typeface="Calibri"/>
              </a:rPr>
              <a:t>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2000" y="5040000"/>
            <a:ext cx="2556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Precision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311999" y="4320000"/>
            <a:ext cx="2700000" cy="126000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311999" y="4500000"/>
            <a:ext cx="270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800" b="1" dirty="0">
                <a:solidFill>
                  <a:srgbClr val="F97316"/>
                </a:solidFill>
                <a:latin typeface="Calibri"/>
              </a:rPr>
              <a:t>95</a:t>
            </a:r>
            <a:r>
              <a:rPr sz="2800" b="1" i="0" dirty="0">
                <a:solidFill>
                  <a:srgbClr val="F97316"/>
                </a:solidFill>
                <a:latin typeface="Calibri"/>
              </a:rPr>
              <a:t>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999" y="5040000"/>
            <a:ext cx="2556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Recall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63998" y="4320000"/>
            <a:ext cx="2700000" cy="126000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263998" y="4500000"/>
            <a:ext cx="270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800" b="1" dirty="0">
                <a:solidFill>
                  <a:srgbClr val="F97316"/>
                </a:solidFill>
                <a:latin typeface="Calibri"/>
              </a:rPr>
              <a:t>85</a:t>
            </a:r>
            <a:r>
              <a:rPr sz="2800" b="1" i="0" dirty="0">
                <a:solidFill>
                  <a:srgbClr val="F97316"/>
                </a:solidFill>
                <a:latin typeface="Calibri"/>
              </a:rPr>
              <a:t>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35998" y="5040000"/>
            <a:ext cx="2556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mAP@0.5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215997" y="4320000"/>
            <a:ext cx="2700000" cy="126000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234851" y="4500000"/>
            <a:ext cx="270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800" b="1" dirty="0">
                <a:solidFill>
                  <a:srgbClr val="F97316"/>
                </a:solidFill>
                <a:latin typeface="Calibri"/>
              </a:rPr>
              <a:t>60FPS</a:t>
            </a:r>
            <a:endParaRPr sz="2800" b="1" i="0" dirty="0">
              <a:solidFill>
                <a:srgbClr val="F97316"/>
              </a:solidFill>
              <a:latin typeface="Calibri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9287997" y="5040000"/>
            <a:ext cx="2556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Inférence / image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678000"/>
            <a:ext cx="12193200" cy="18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200" cy="792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792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0000" y="125999"/>
            <a:ext cx="10440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2200" b="1" i="0" dirty="0">
                <a:solidFill>
                  <a:srgbClr val="FFFFFF"/>
                </a:solidFill>
                <a:latin typeface="Calibri"/>
              </a:rPr>
              <a:t>Pipeline de Détection - Flux Complet</a:t>
            </a:r>
            <a:endParaRPr sz="22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340000" y="216000"/>
            <a:ext cx="7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97316"/>
                </a:solidFill>
                <a:latin typeface="Calibri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2000" y="1980000"/>
            <a:ext cx="1728000" cy="1007999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0000" y="2052000"/>
            <a:ext cx="187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97316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2304000"/>
            <a:ext cx="1728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>
                <a:solidFill>
                  <a:srgbClr val="FFFFFF"/>
                </a:solidFill>
                <a:latin typeface="Calibri"/>
              </a:rPr>
              <a:t>Capture
image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6000" y="2754000"/>
            <a:ext cx="172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Webcam / URL</a:t>
            </a:r>
          </a:p>
        </p:txBody>
      </p:sp>
      <p:sp>
        <p:nvSpPr>
          <p:cNvPr id="10" name="Can 9"/>
          <p:cNvSpPr/>
          <p:nvPr/>
        </p:nvSpPr>
        <p:spPr>
          <a:xfrm>
            <a:off x="2286000" y="2393999"/>
            <a:ext cx="288000" cy="180000"/>
          </a:xfrm>
          <a:prstGeom prst="can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610000" y="1980000"/>
            <a:ext cx="1872000" cy="1007999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610000" y="2052000"/>
            <a:ext cx="187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97316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82000" y="2304000"/>
            <a:ext cx="1728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POST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82000" y="2538000"/>
            <a:ext cx="172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/detect/</a:t>
            </a:r>
          </a:p>
        </p:txBody>
      </p:sp>
      <p:sp>
        <p:nvSpPr>
          <p:cNvPr id="15" name="Can 14"/>
          <p:cNvSpPr/>
          <p:nvPr/>
        </p:nvSpPr>
        <p:spPr>
          <a:xfrm>
            <a:off x="4536000" y="2393999"/>
            <a:ext cx="288000" cy="180000"/>
          </a:xfrm>
          <a:prstGeom prst="can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860000" y="1980000"/>
            <a:ext cx="1872000" cy="1007999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860000" y="2052000"/>
            <a:ext cx="187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97316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2000" y="2304000"/>
            <a:ext cx="1728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YOLOv8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2000" y="2538000"/>
            <a:ext cx="172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best.pt</a:t>
            </a:r>
          </a:p>
        </p:txBody>
      </p:sp>
      <p:sp>
        <p:nvSpPr>
          <p:cNvPr id="20" name="Can 19"/>
          <p:cNvSpPr/>
          <p:nvPr/>
        </p:nvSpPr>
        <p:spPr>
          <a:xfrm>
            <a:off x="6786000" y="2393999"/>
            <a:ext cx="288000" cy="180000"/>
          </a:xfrm>
          <a:prstGeom prst="can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110000" y="1980000"/>
            <a:ext cx="1872000" cy="1007999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110000" y="2052000"/>
            <a:ext cx="187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97316"/>
                </a:solidFill>
                <a:latin typeface="Calibr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82000" y="2304000"/>
            <a:ext cx="1728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Log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82000" y="2538000"/>
            <a:ext cx="172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DetectionLog</a:t>
            </a:r>
          </a:p>
        </p:txBody>
      </p:sp>
      <p:sp>
        <p:nvSpPr>
          <p:cNvPr id="25" name="Can 24"/>
          <p:cNvSpPr/>
          <p:nvPr/>
        </p:nvSpPr>
        <p:spPr>
          <a:xfrm>
            <a:off x="9036000" y="2393999"/>
            <a:ext cx="288000" cy="180000"/>
          </a:xfrm>
          <a:prstGeom prst="can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9360000" y="1980000"/>
            <a:ext cx="1872000" cy="1007999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360000" y="2052000"/>
            <a:ext cx="187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97316"/>
                </a:solidFill>
                <a:latin typeface="Calibri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32000" y="2304000"/>
            <a:ext cx="1728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Alerte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32000" y="2538000"/>
            <a:ext cx="172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Si non-conforme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124000" y="4230002"/>
            <a:ext cx="3060000" cy="5400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124000" y="4302001"/>
            <a:ext cx="3060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 dirty="0">
                <a:solidFill>
                  <a:srgbClr val="FFFFFF"/>
                </a:solidFill>
                <a:latin typeface="Calibri"/>
              </a:rPr>
              <a:t>✓  </a:t>
            </a:r>
            <a:r>
              <a:rPr sz="1500" b="1" i="0" dirty="0" err="1">
                <a:solidFill>
                  <a:srgbClr val="FFFFFF"/>
                </a:solidFill>
                <a:latin typeface="Calibri"/>
              </a:rPr>
              <a:t>Conforme</a:t>
            </a:r>
            <a:r>
              <a:rPr sz="15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lang="fr-FR" sz="1500" b="1" i="0" dirty="0">
                <a:solidFill>
                  <a:srgbClr val="FFFFFF"/>
                </a:solidFill>
                <a:latin typeface="Calibri"/>
              </a:rPr>
              <a:t>-</a:t>
            </a:r>
            <a:r>
              <a:rPr sz="1500" b="1" i="0" dirty="0">
                <a:solidFill>
                  <a:srgbClr val="FFFFFF"/>
                </a:solidFill>
                <a:latin typeface="Calibri"/>
              </a:rPr>
              <a:t> Log </a:t>
            </a:r>
            <a:r>
              <a:rPr sz="1500" b="1" i="0" dirty="0" err="1">
                <a:solidFill>
                  <a:srgbClr val="FFFFFF"/>
                </a:solidFill>
                <a:latin typeface="Calibri"/>
              </a:rPr>
              <a:t>enregistré</a:t>
            </a:r>
            <a:endParaRPr sz="15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5724000" y="4230002"/>
            <a:ext cx="3600000" cy="54000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724000" y="4302001"/>
            <a:ext cx="36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✗  Non-conforme → Alerte créée automatiquement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438000" y="5418002"/>
            <a:ext cx="4572000" cy="72000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916539" y="5674679"/>
            <a:ext cx="1116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F97316"/>
                </a:solidFill>
                <a:latin typeface="Calibri"/>
              </a:rPr>
              <a:t>DEMO LIVE 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93182" y="5653894"/>
            <a:ext cx="900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1200" b="0" i="0" dirty="0">
                <a:solidFill>
                  <a:srgbClr val="10B981"/>
                </a:solidFill>
                <a:latin typeface="Calibri"/>
              </a:rPr>
              <a:t>https://epi-preprod.digiscia.me/login</a:t>
            </a:r>
            <a:endParaRPr sz="1200" b="0" i="0" dirty="0">
              <a:solidFill>
                <a:srgbClr val="10B981"/>
              </a:solidFill>
              <a:latin typeface="Calibri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0" y="6678000"/>
            <a:ext cx="12193200" cy="180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200" cy="792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792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0000" y="125999"/>
            <a:ext cx="10440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 err="1">
                <a:solidFill>
                  <a:srgbClr val="FFFFFF"/>
                </a:solidFill>
                <a:latin typeface="Calibri"/>
              </a:rPr>
              <a:t>Plateforme</a:t>
            </a:r>
            <a:r>
              <a:rPr sz="2200" b="1" i="0" dirty="0">
                <a:solidFill>
                  <a:srgbClr val="FFFFFF"/>
                </a:solidFill>
                <a:latin typeface="Calibri"/>
              </a:rPr>
              <a:t> Web </a:t>
            </a:r>
            <a:r>
              <a:rPr lang="fr-FR" sz="2200" b="1" i="0" dirty="0">
                <a:solidFill>
                  <a:srgbClr val="FFFFFF"/>
                </a:solidFill>
                <a:latin typeface="Calibri"/>
              </a:rPr>
              <a:t>-</a:t>
            </a:r>
            <a:r>
              <a:rPr sz="22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1" i="0" dirty="0" err="1">
                <a:solidFill>
                  <a:srgbClr val="FFFFFF"/>
                </a:solidFill>
                <a:latin typeface="Calibri"/>
              </a:rPr>
              <a:t>Fonctionnalités</a:t>
            </a:r>
            <a:r>
              <a:rPr sz="22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1" i="0" dirty="0" err="1">
                <a:solidFill>
                  <a:srgbClr val="FFFFFF"/>
                </a:solidFill>
                <a:latin typeface="Calibri"/>
              </a:rPr>
              <a:t>Clés</a:t>
            </a:r>
            <a:endParaRPr sz="22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340000" y="216000"/>
            <a:ext cx="7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97316"/>
                </a:solidFill>
                <a:latin typeface="Calibri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1389" y="1469216"/>
            <a:ext cx="5580000" cy="79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41389" y="1469216"/>
            <a:ext cx="180000" cy="7920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29389" y="1541216"/>
            <a:ext cx="28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9389" y="1829216"/>
            <a:ext cx="50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KPIs temps réel · Statistiques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28000" y="1469216"/>
            <a:ext cx="5580000" cy="79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228000" y="1469216"/>
            <a:ext cx="180000" cy="7920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16000" y="1541216"/>
            <a:ext cx="28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Détection Live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6000" y="1829216"/>
            <a:ext cx="50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Webcam · Upload · Résultats YOLO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1389" y="2781000"/>
            <a:ext cx="5580000" cy="79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241389" y="2781000"/>
            <a:ext cx="180000" cy="79200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29389" y="2853000"/>
            <a:ext cx="28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Alertes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9389" y="3141000"/>
            <a:ext cx="50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Cycle complet · Criticité · Historique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28000" y="2781000"/>
            <a:ext cx="5580000" cy="79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228000" y="2781000"/>
            <a:ext cx="180000" cy="7920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16000" y="2853000"/>
            <a:ext cx="28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Règles HSE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6000" y="3141000"/>
            <a:ext cx="50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EPI par zone · Seuils de criticité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41389" y="3960000"/>
            <a:ext cx="5580000" cy="79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241389" y="3960000"/>
            <a:ext cx="180000" cy="792000"/>
          </a:xfrm>
          <a:prstGeom prst="roundRect">
            <a:avLst>
              <a:gd name="adj" fmla="val 50000"/>
            </a:avLst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29389" y="4032000"/>
            <a:ext cx="28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Audits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9389" y="4320000"/>
            <a:ext cx="50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Captures · Notes · Export PDF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28000" y="3957668"/>
            <a:ext cx="5580000" cy="79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228000" y="3957668"/>
            <a:ext cx="180000" cy="792000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16000" y="4029668"/>
            <a:ext cx="28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Administration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6000" y="4317668"/>
            <a:ext cx="50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Utilisateurs · Rôles · Permissions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8000" y="5346001"/>
            <a:ext cx="11520000" cy="64800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8000" y="5418001"/>
            <a:ext cx="18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97316"/>
                </a:solidFill>
                <a:latin typeface="Calibri"/>
              </a:rPr>
              <a:t>API REST 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20000" y="5418001"/>
            <a:ext cx="90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/users/  ·  /cameras/  ·  /detection/  ·  /alerts/  ·  /rules/  ·  /audits/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678000"/>
            <a:ext cx="12193200" cy="18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200" cy="792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792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0000" y="125999"/>
            <a:ext cx="10440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>
                <a:solidFill>
                  <a:srgbClr val="FFFFFF"/>
                </a:solidFill>
                <a:latin typeface="Calibri"/>
              </a:rPr>
              <a:t>Workflow Métier </a:t>
            </a:r>
            <a:r>
              <a:rPr lang="fr-FR" sz="2200" b="1" i="0" dirty="0">
                <a:solidFill>
                  <a:srgbClr val="FFFFFF"/>
                </a:solidFill>
                <a:latin typeface="Calibri"/>
              </a:rPr>
              <a:t>-</a:t>
            </a:r>
            <a:r>
              <a:rPr sz="2200" b="1" i="0" dirty="0">
                <a:solidFill>
                  <a:srgbClr val="FFFFFF"/>
                </a:solidFill>
                <a:latin typeface="Calibri"/>
              </a:rPr>
              <a:t> De la </a:t>
            </a:r>
            <a:r>
              <a:rPr sz="2200" b="1" i="0" dirty="0" err="1">
                <a:solidFill>
                  <a:srgbClr val="FFFFFF"/>
                </a:solidFill>
                <a:latin typeface="Calibri"/>
              </a:rPr>
              <a:t>Détection</a:t>
            </a:r>
            <a:r>
              <a:rPr sz="2200" b="1" i="0" dirty="0">
                <a:solidFill>
                  <a:srgbClr val="FFFFFF"/>
                </a:solidFill>
                <a:latin typeface="Calibri"/>
              </a:rPr>
              <a:t> à la </a:t>
            </a:r>
            <a:r>
              <a:rPr sz="2200" b="1" i="0" dirty="0" err="1">
                <a:solidFill>
                  <a:srgbClr val="FFFFFF"/>
                </a:solidFill>
                <a:latin typeface="Calibri"/>
              </a:rPr>
              <a:t>Résolution</a:t>
            </a:r>
            <a:endParaRPr sz="22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340000" y="216000"/>
            <a:ext cx="7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97316"/>
                </a:solidFill>
                <a:latin typeface="Calibri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3997" y="2149647"/>
            <a:ext cx="1620000" cy="108000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3997" y="2221647"/>
            <a:ext cx="16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97316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997" y="2473647"/>
            <a:ext cx="1476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Capture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5997" y="2707647"/>
            <a:ext cx="147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Image / Frame</a:t>
            </a:r>
          </a:p>
        </p:txBody>
      </p:sp>
      <p:sp>
        <p:nvSpPr>
          <p:cNvPr id="10" name="Can 9"/>
          <p:cNvSpPr/>
          <p:nvPr/>
        </p:nvSpPr>
        <p:spPr>
          <a:xfrm>
            <a:off x="1979997" y="2599647"/>
            <a:ext cx="251999" cy="180000"/>
          </a:xfrm>
          <a:prstGeom prst="can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231997" y="2149647"/>
            <a:ext cx="1620000" cy="108000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231997" y="2221647"/>
            <a:ext cx="16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97316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03997" y="2473647"/>
            <a:ext cx="1476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Détection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03997" y="2707647"/>
            <a:ext cx="147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YOLO → Log</a:t>
            </a:r>
          </a:p>
        </p:txBody>
      </p:sp>
      <p:sp>
        <p:nvSpPr>
          <p:cNvPr id="15" name="Can 14"/>
          <p:cNvSpPr/>
          <p:nvPr/>
        </p:nvSpPr>
        <p:spPr>
          <a:xfrm>
            <a:off x="3887997" y="2599647"/>
            <a:ext cx="251999" cy="180000"/>
          </a:xfrm>
          <a:prstGeom prst="can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139997" y="2149647"/>
            <a:ext cx="1620000" cy="108000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139997" y="2221647"/>
            <a:ext cx="16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97316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11997" y="2473647"/>
            <a:ext cx="1476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Alerte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11997" y="2707647"/>
            <a:ext cx="147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Auto-générée</a:t>
            </a:r>
          </a:p>
        </p:txBody>
      </p:sp>
      <p:sp>
        <p:nvSpPr>
          <p:cNvPr id="20" name="Can 19"/>
          <p:cNvSpPr/>
          <p:nvPr/>
        </p:nvSpPr>
        <p:spPr>
          <a:xfrm>
            <a:off x="5795997" y="2599647"/>
            <a:ext cx="251999" cy="180000"/>
          </a:xfrm>
          <a:prstGeom prst="can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047997" y="2149647"/>
            <a:ext cx="1620000" cy="108000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047997" y="2221647"/>
            <a:ext cx="16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97316"/>
                </a:solidFill>
                <a:latin typeface="Calibr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19997" y="2473647"/>
            <a:ext cx="1476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Audit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19997" y="2707647"/>
            <a:ext cx="147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Ouvert si grave</a:t>
            </a:r>
          </a:p>
        </p:txBody>
      </p:sp>
      <p:sp>
        <p:nvSpPr>
          <p:cNvPr id="25" name="Can 24"/>
          <p:cNvSpPr/>
          <p:nvPr/>
        </p:nvSpPr>
        <p:spPr>
          <a:xfrm>
            <a:off x="7703997" y="2599647"/>
            <a:ext cx="251999" cy="180000"/>
          </a:xfrm>
          <a:prstGeom prst="can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7955997" y="2149647"/>
            <a:ext cx="1620000" cy="108000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955997" y="2221647"/>
            <a:ext cx="16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97316"/>
                </a:solidFill>
                <a:latin typeface="Calibri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27997" y="2473647"/>
            <a:ext cx="1476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Suivi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27997" y="2707647"/>
            <a:ext cx="147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Notes + captures</a:t>
            </a:r>
          </a:p>
        </p:txBody>
      </p:sp>
      <p:sp>
        <p:nvSpPr>
          <p:cNvPr id="30" name="Can 29"/>
          <p:cNvSpPr/>
          <p:nvPr/>
        </p:nvSpPr>
        <p:spPr>
          <a:xfrm>
            <a:off x="9611997" y="2599647"/>
            <a:ext cx="251999" cy="180000"/>
          </a:xfrm>
          <a:prstGeom prst="can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9863997" y="2149647"/>
            <a:ext cx="1620000" cy="108000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863997" y="2221647"/>
            <a:ext cx="16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97316"/>
                </a:solidFill>
                <a:latin typeface="Calibri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35997" y="2473647"/>
            <a:ext cx="1476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Clôture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35997" y="2707647"/>
            <a:ext cx="147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PDF exporté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57998" y="4421058"/>
            <a:ext cx="54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64748B"/>
                </a:solidFill>
                <a:latin typeface="Calibri"/>
              </a:rPr>
              <a:t>Cycle de vie des </a:t>
            </a:r>
            <a:r>
              <a:rPr sz="1100" b="0" i="0" dirty="0" err="1">
                <a:solidFill>
                  <a:srgbClr val="64748B"/>
                </a:solidFill>
                <a:latin typeface="Calibri"/>
              </a:rPr>
              <a:t>alertes</a:t>
            </a:r>
            <a:r>
              <a:rPr sz="1100" b="0" i="0" dirty="0">
                <a:solidFill>
                  <a:srgbClr val="64748B"/>
                </a:solidFill>
                <a:latin typeface="Calibri"/>
              </a:rPr>
              <a:t> :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457998" y="4673057"/>
            <a:ext cx="1620000" cy="3240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457998" y="4691058"/>
            <a:ext cx="16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>
                <a:solidFill>
                  <a:srgbClr val="FFFFFF"/>
                </a:solidFill>
                <a:latin typeface="Calibri"/>
              </a:rPr>
              <a:t>NOUVEAU</a:t>
            </a:r>
          </a:p>
        </p:txBody>
      </p:sp>
      <p:sp>
        <p:nvSpPr>
          <p:cNvPr id="38" name="Can 37"/>
          <p:cNvSpPr/>
          <p:nvPr/>
        </p:nvSpPr>
        <p:spPr>
          <a:xfrm>
            <a:off x="3113997" y="4799058"/>
            <a:ext cx="180000" cy="144000"/>
          </a:xfrm>
          <a:prstGeom prst="can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3329998" y="4673057"/>
            <a:ext cx="1620000" cy="3240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329998" y="4691058"/>
            <a:ext cx="16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EN COURS</a:t>
            </a:r>
          </a:p>
        </p:txBody>
      </p:sp>
      <p:sp>
        <p:nvSpPr>
          <p:cNvPr id="41" name="Can 40"/>
          <p:cNvSpPr/>
          <p:nvPr/>
        </p:nvSpPr>
        <p:spPr>
          <a:xfrm>
            <a:off x="4985997" y="4799058"/>
            <a:ext cx="180000" cy="144000"/>
          </a:xfrm>
          <a:prstGeom prst="can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5201998" y="4673057"/>
            <a:ext cx="1620000" cy="3240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201998" y="4691058"/>
            <a:ext cx="16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RÉSOLU</a:t>
            </a:r>
          </a:p>
        </p:txBody>
      </p:sp>
      <p:sp>
        <p:nvSpPr>
          <p:cNvPr id="44" name="Can 43"/>
          <p:cNvSpPr/>
          <p:nvPr/>
        </p:nvSpPr>
        <p:spPr>
          <a:xfrm>
            <a:off x="6857997" y="4799058"/>
            <a:ext cx="180000" cy="144000"/>
          </a:xfrm>
          <a:prstGeom prst="can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7073998" y="4673057"/>
            <a:ext cx="1620000" cy="324000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073998" y="4691058"/>
            <a:ext cx="16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IGNORÉ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691999" y="5879058"/>
            <a:ext cx="6417872" cy="46800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871999" y="5904000"/>
            <a:ext cx="11160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FFFFFF"/>
                </a:solidFill>
                <a:latin typeface="Calibri"/>
              </a:rPr>
              <a:t>  </a:t>
            </a:r>
            <a:r>
              <a:rPr sz="1300" b="0" i="0" dirty="0" err="1">
                <a:solidFill>
                  <a:srgbClr val="FFFFFF"/>
                </a:solidFill>
                <a:latin typeface="Calibri"/>
              </a:rPr>
              <a:t>Règle</a:t>
            </a:r>
            <a:r>
              <a:rPr sz="1300" b="0" i="0" dirty="0">
                <a:solidFill>
                  <a:srgbClr val="FFFFFF"/>
                </a:solidFill>
                <a:latin typeface="Calibri"/>
              </a:rPr>
              <a:t> métier : </a:t>
            </a:r>
            <a:r>
              <a:rPr sz="1300" b="0" i="0" dirty="0" err="1">
                <a:solidFill>
                  <a:srgbClr val="FFFFFF"/>
                </a:solidFill>
                <a:latin typeface="Calibri"/>
              </a:rPr>
              <a:t>une</a:t>
            </a:r>
            <a:r>
              <a:rPr sz="13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FFFFFF"/>
                </a:solidFill>
                <a:latin typeface="Calibri"/>
              </a:rPr>
              <a:t>alerte</a:t>
            </a:r>
            <a:r>
              <a:rPr sz="1300" b="0" i="0" dirty="0">
                <a:solidFill>
                  <a:srgbClr val="FFFFFF"/>
                </a:solidFill>
                <a:latin typeface="Calibri"/>
              </a:rPr>
              <a:t> ne </a:t>
            </a:r>
            <a:r>
              <a:rPr sz="1300" b="0" i="0" dirty="0" err="1">
                <a:solidFill>
                  <a:srgbClr val="FFFFFF"/>
                </a:solidFill>
                <a:latin typeface="Calibri"/>
              </a:rPr>
              <a:t>peut</a:t>
            </a:r>
            <a:r>
              <a:rPr sz="1300" b="0" i="0" dirty="0">
                <a:solidFill>
                  <a:srgbClr val="FFFFFF"/>
                </a:solidFill>
                <a:latin typeface="Calibri"/>
              </a:rPr>
              <a:t> pas </a:t>
            </a:r>
            <a:r>
              <a:rPr sz="1300" b="0" i="0" dirty="0" err="1">
                <a:solidFill>
                  <a:srgbClr val="FFFFFF"/>
                </a:solidFill>
                <a:latin typeface="Calibri"/>
              </a:rPr>
              <a:t>avoir</a:t>
            </a:r>
            <a:r>
              <a:rPr sz="1300" b="0" i="0" dirty="0">
                <a:solidFill>
                  <a:srgbClr val="FFFFFF"/>
                </a:solidFill>
                <a:latin typeface="Calibri"/>
              </a:rPr>
              <a:t> deux audits </a:t>
            </a:r>
            <a:r>
              <a:rPr sz="1300" b="0" i="0" dirty="0" err="1">
                <a:solidFill>
                  <a:srgbClr val="FFFFFF"/>
                </a:solidFill>
                <a:latin typeface="Calibri"/>
              </a:rPr>
              <a:t>actifs</a:t>
            </a:r>
            <a:r>
              <a:rPr sz="13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FFFFFF"/>
                </a:solidFill>
                <a:latin typeface="Calibri"/>
              </a:rPr>
              <a:t>simultanément</a:t>
            </a:r>
            <a:endParaRPr sz="1300" b="0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0" y="6678000"/>
            <a:ext cx="12193200" cy="180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200" cy="792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792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0000" y="125999"/>
            <a:ext cx="104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Ce que J'ai Personnellement Développé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40000" y="216000"/>
            <a:ext cx="7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97316"/>
                </a:solidFill>
                <a:latin typeface="Calibr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4000" y="1349996"/>
            <a:ext cx="11520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64748B"/>
                </a:solidFill>
                <a:latin typeface="Calibri"/>
              </a:rPr>
              <a:t>Contributions de Souleymane </a:t>
            </a:r>
            <a:r>
              <a:rPr lang="fr-FR" sz="1300" b="0" i="0" dirty="0">
                <a:solidFill>
                  <a:srgbClr val="64748B"/>
                </a:solidFill>
                <a:latin typeface="Calibri"/>
              </a:rPr>
              <a:t>TRAORE(seul contributeur)</a:t>
            </a:r>
            <a:r>
              <a:rPr sz="130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lang="fr-FR" sz="1300" b="0" i="0" dirty="0">
                <a:solidFill>
                  <a:srgbClr val="64748B"/>
                </a:solidFill>
                <a:latin typeface="Calibri"/>
              </a:rPr>
              <a:t>- 10</a:t>
            </a:r>
            <a:r>
              <a:rPr sz="1300" b="0" i="0" dirty="0">
                <a:solidFill>
                  <a:srgbClr val="64748B"/>
                </a:solidFill>
                <a:latin typeface="Calibri"/>
              </a:rPr>
              <a:t> commits Git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3588" y="2249998"/>
            <a:ext cx="5626412" cy="15120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96000" y="2174875"/>
            <a:ext cx="5580000" cy="9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4000" y="2375997"/>
            <a:ext cx="50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Backend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00" y="2609998"/>
            <a:ext cx="522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✓  6 apps Django (Users, Cameras, Detection, Alertes, Audits, RegleSHE)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00" y="2861997"/>
            <a:ext cx="522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0F172A"/>
                </a:solidFill>
                <a:latin typeface="Calibri"/>
              </a:rPr>
              <a:t>✓  </a:t>
            </a:r>
            <a:r>
              <a:rPr sz="1100" b="0" i="0" dirty="0" err="1">
                <a:solidFill>
                  <a:srgbClr val="0F172A"/>
                </a:solidFill>
                <a:latin typeface="Calibri"/>
              </a:rPr>
              <a:t>Authentification</a:t>
            </a:r>
            <a:r>
              <a:rPr sz="1100" b="0" i="0" dirty="0">
                <a:solidFill>
                  <a:srgbClr val="0F172A"/>
                </a:solidFill>
                <a:latin typeface="Calibri"/>
              </a:rPr>
              <a:t> JWT </a:t>
            </a:r>
            <a:r>
              <a:rPr lang="fr-FR" sz="1100" b="0" i="0" dirty="0">
                <a:solidFill>
                  <a:srgbClr val="0F172A"/>
                </a:solidFill>
                <a:latin typeface="Calibri"/>
              </a:rPr>
              <a:t>-</a:t>
            </a:r>
            <a:r>
              <a:rPr sz="1100" b="0" i="0" dirty="0">
                <a:solidFill>
                  <a:srgbClr val="0F172A"/>
                </a:solidFill>
                <a:latin typeface="Calibri"/>
              </a:rPr>
              <a:t>cookies </a:t>
            </a:r>
            <a:r>
              <a:rPr sz="1100" b="0" i="0" dirty="0" err="1">
                <a:solidFill>
                  <a:srgbClr val="0F172A"/>
                </a:solidFill>
                <a:latin typeface="Calibri"/>
              </a:rPr>
              <a:t>HttpOnly</a:t>
            </a:r>
            <a:r>
              <a:rPr sz="1100" b="0" i="0" dirty="0">
                <a:solidFill>
                  <a:srgbClr val="0F172A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0F172A"/>
                </a:solidFill>
                <a:latin typeface="Calibri"/>
              </a:rPr>
              <a:t>sécurisés</a:t>
            </a:r>
            <a:endParaRPr sz="1100" b="0" i="0" dirty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76000" y="3113996"/>
            <a:ext cx="522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0F172A"/>
                </a:solidFill>
                <a:latin typeface="Calibri"/>
              </a:rPr>
              <a:t>✓  </a:t>
            </a:r>
            <a:r>
              <a:rPr sz="1100" b="0" i="0" dirty="0" err="1">
                <a:solidFill>
                  <a:srgbClr val="0F172A"/>
                </a:solidFill>
                <a:latin typeface="Calibri"/>
              </a:rPr>
              <a:t>Intégration</a:t>
            </a:r>
            <a:r>
              <a:rPr sz="1100" b="0" i="0" dirty="0">
                <a:solidFill>
                  <a:srgbClr val="0F172A"/>
                </a:solidFill>
                <a:latin typeface="Calibri"/>
              </a:rPr>
              <a:t> YOLOv8 : pipeline detect </a:t>
            </a:r>
            <a:r>
              <a:rPr lang="fr-FR" sz="1100" b="0" i="0" dirty="0">
                <a:solidFill>
                  <a:srgbClr val="0F172A"/>
                </a:solidFill>
                <a:latin typeface="Calibri"/>
              </a:rPr>
              <a:t>-</a:t>
            </a:r>
            <a:r>
              <a:rPr sz="1100" b="0" i="0" dirty="0">
                <a:solidFill>
                  <a:srgbClr val="0F172A"/>
                </a:solidFill>
                <a:latin typeface="Calibri"/>
              </a:rPr>
              <a:t> log </a:t>
            </a:r>
            <a:r>
              <a:rPr lang="fr-FR" sz="1100" b="0" i="0" dirty="0">
                <a:solidFill>
                  <a:srgbClr val="0F172A"/>
                </a:solidFill>
                <a:latin typeface="Calibri"/>
              </a:rPr>
              <a:t>-</a:t>
            </a:r>
            <a:r>
              <a:rPr sz="1100" b="0" i="0" dirty="0">
                <a:solidFill>
                  <a:srgbClr val="0F172A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0F172A"/>
                </a:solidFill>
                <a:latin typeface="Calibri"/>
              </a:rPr>
              <a:t>alerte</a:t>
            </a:r>
            <a:endParaRPr sz="1100" b="0" i="0" dirty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76000" y="3365995"/>
            <a:ext cx="522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✓  Génération PDF (ReportLab) et export CSV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56000" y="2249998"/>
            <a:ext cx="5688000" cy="15120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00000" y="2164280"/>
            <a:ext cx="5580000" cy="90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8000" y="2375997"/>
            <a:ext cx="50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  <a:latin typeface="Calibri"/>
              </a:rPr>
              <a:t>Frontend React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0000" y="2609998"/>
            <a:ext cx="522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✓  Dashboard KPIs avec Recharts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0000" y="2861997"/>
            <a:ext cx="522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0F172A"/>
                </a:solidFill>
                <a:latin typeface="Calibri"/>
              </a:rPr>
              <a:t>✓  Page </a:t>
            </a:r>
            <a:r>
              <a:rPr sz="1100" b="0" i="0" dirty="0" err="1">
                <a:solidFill>
                  <a:srgbClr val="0F172A"/>
                </a:solidFill>
                <a:latin typeface="Calibri"/>
              </a:rPr>
              <a:t>Détection</a:t>
            </a:r>
            <a:r>
              <a:rPr sz="1100" b="0" i="0" dirty="0">
                <a:solidFill>
                  <a:srgbClr val="0F172A"/>
                </a:solidFill>
                <a:latin typeface="Calibri"/>
              </a:rPr>
              <a:t> </a:t>
            </a:r>
            <a:r>
              <a:rPr lang="fr-FR" sz="1100" b="0" i="0" dirty="0">
                <a:solidFill>
                  <a:srgbClr val="0F172A"/>
                </a:solidFill>
                <a:latin typeface="Calibri"/>
              </a:rPr>
              <a:t>-</a:t>
            </a:r>
            <a:r>
              <a:rPr sz="1100" b="0" i="0" dirty="0">
                <a:solidFill>
                  <a:srgbClr val="0F172A"/>
                </a:solidFill>
                <a:latin typeface="Calibri"/>
              </a:rPr>
              <a:t> webcam + flux temps </a:t>
            </a:r>
            <a:r>
              <a:rPr sz="1100" b="0" i="0" dirty="0" err="1">
                <a:solidFill>
                  <a:srgbClr val="0F172A"/>
                </a:solidFill>
                <a:latin typeface="Calibri"/>
              </a:rPr>
              <a:t>réel</a:t>
            </a:r>
            <a:endParaRPr sz="1100" b="0" i="0" dirty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80000" y="3113996"/>
            <a:ext cx="522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✓  Pages Alertes, Audits, Règles HSE, Administration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80000" y="3365995"/>
            <a:ext cx="522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✓  Contexte d'authentification global (AuthContext)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80000" y="4535996"/>
            <a:ext cx="5760000" cy="15301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60000" y="4535996"/>
            <a:ext cx="5580000" cy="90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4000" y="4661995"/>
            <a:ext cx="50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  <a:latin typeface="Calibri"/>
              </a:rPr>
              <a:t>IA &amp; Données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00" y="4895996"/>
            <a:ext cx="522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0F172A"/>
                </a:solidFill>
                <a:latin typeface="Calibri"/>
              </a:rPr>
              <a:t>✓  Pipeline </a:t>
            </a:r>
            <a:r>
              <a:rPr sz="1100" b="0" i="0" dirty="0" err="1">
                <a:solidFill>
                  <a:srgbClr val="0F172A"/>
                </a:solidFill>
                <a:latin typeface="Calibri"/>
              </a:rPr>
              <a:t>complet</a:t>
            </a:r>
            <a:r>
              <a:rPr sz="1100" b="0" i="0" dirty="0">
                <a:solidFill>
                  <a:srgbClr val="0F172A"/>
                </a:solidFill>
                <a:latin typeface="Calibri"/>
              </a:rPr>
              <a:t> : dataset </a:t>
            </a:r>
            <a:r>
              <a:rPr lang="fr-FR" sz="1100" b="0" i="0" dirty="0">
                <a:solidFill>
                  <a:srgbClr val="0F172A"/>
                </a:solidFill>
                <a:latin typeface="Calibri"/>
              </a:rPr>
              <a:t>-</a:t>
            </a:r>
            <a:r>
              <a:rPr sz="1100" b="0" i="0" dirty="0">
                <a:solidFill>
                  <a:srgbClr val="0F172A"/>
                </a:solidFill>
                <a:latin typeface="Calibri"/>
              </a:rPr>
              <a:t> annotation </a:t>
            </a:r>
            <a:r>
              <a:rPr lang="fr-FR" sz="1100" b="0" i="0" dirty="0">
                <a:solidFill>
                  <a:srgbClr val="0F172A"/>
                </a:solidFill>
                <a:latin typeface="Calibri"/>
              </a:rPr>
              <a:t>-</a:t>
            </a:r>
            <a:r>
              <a:rPr sz="1100" b="0" i="0" dirty="0">
                <a:solidFill>
                  <a:srgbClr val="0F172A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0F172A"/>
                </a:solidFill>
                <a:latin typeface="Calibri"/>
              </a:rPr>
              <a:t>entraînement</a:t>
            </a:r>
            <a:r>
              <a:rPr sz="1100" b="0" i="0" dirty="0">
                <a:solidFill>
                  <a:srgbClr val="0F172A"/>
                </a:solidFill>
                <a:latin typeface="Calibri"/>
              </a:rPr>
              <a:t> YOLO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00" y="5147995"/>
            <a:ext cx="522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✓  Script de prétraitement et augmentation de données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00" y="5399994"/>
            <a:ext cx="522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✓  Validation du modèle (metrics mAP, Precision, Recall)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20000" y="4517997"/>
            <a:ext cx="5713588" cy="149399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253588" y="4517997"/>
            <a:ext cx="5580000" cy="9000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97588" y="4643996"/>
            <a:ext cx="50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AB308"/>
                </a:solidFill>
                <a:latin typeface="Calibri"/>
              </a:rPr>
              <a:t>Déploiement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69588" y="4877997"/>
            <a:ext cx="522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✓  Configuration AWS CodeBuild + CodeDeploy (CI/CD)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69588" y="5129996"/>
            <a:ext cx="522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✓  Nginx + Gunicorn en production sur EC2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69588" y="5381995"/>
            <a:ext cx="522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✓  Frontend sur Cloudflare CDN avec HTTPS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678000"/>
            <a:ext cx="12193200" cy="18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200" cy="792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792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0000" y="125999"/>
            <a:ext cx="104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Difficultés Rencontrées &amp; Solutions Apportées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40000" y="216000"/>
            <a:ext cx="7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97316"/>
                </a:solidFill>
                <a:latin typeface="Calibri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3588" y="1315019"/>
            <a:ext cx="5698412" cy="152879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80000" y="1583814"/>
            <a:ext cx="52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 err="1">
                <a:solidFill>
                  <a:srgbClr val="EF4444"/>
                </a:solidFill>
                <a:latin typeface="Calibri"/>
              </a:rPr>
              <a:t>Qualité</a:t>
            </a:r>
            <a:r>
              <a:rPr sz="1200" b="1" i="0" dirty="0">
                <a:solidFill>
                  <a:srgbClr val="EF4444"/>
                </a:solidFill>
                <a:latin typeface="Calibri"/>
              </a:rPr>
              <a:t> et volume des </a:t>
            </a:r>
            <a:r>
              <a:rPr sz="1200" b="1" i="0" dirty="0" err="1">
                <a:solidFill>
                  <a:srgbClr val="EF4444"/>
                </a:solidFill>
                <a:latin typeface="Calibri"/>
              </a:rPr>
              <a:t>données</a:t>
            </a:r>
            <a:endParaRPr sz="1200" b="1" i="0" dirty="0">
              <a:solidFill>
                <a:srgbClr val="EF4444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80000" y="1835814"/>
            <a:ext cx="522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🔴  Manque d'images annotées pour l'entraînement YOLO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000" y="2159814"/>
            <a:ext cx="52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alibri"/>
              </a:rPr>
              <a:t>🟢  Augmentation de données (flip, rotation, bruit) + Roboflow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588" y="1305349"/>
            <a:ext cx="5698412" cy="152879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96000" y="1584850"/>
            <a:ext cx="522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 err="1">
                <a:solidFill>
                  <a:srgbClr val="F97316"/>
                </a:solidFill>
                <a:latin typeface="Calibri"/>
              </a:rPr>
              <a:t>Intégration</a:t>
            </a:r>
            <a:r>
              <a:rPr sz="1200" b="1" i="0" dirty="0">
                <a:solidFill>
                  <a:srgbClr val="F97316"/>
                </a:solidFill>
                <a:latin typeface="Calibri"/>
              </a:rPr>
              <a:t> IA </a:t>
            </a:r>
            <a:r>
              <a:rPr lang="fr-FR" sz="1200" b="1" i="0" dirty="0">
                <a:solidFill>
                  <a:srgbClr val="F97316"/>
                </a:solidFill>
                <a:latin typeface="Calibri"/>
              </a:rPr>
              <a:t>-</a:t>
            </a:r>
            <a:r>
              <a:rPr sz="1200" b="1" i="0" dirty="0">
                <a:solidFill>
                  <a:srgbClr val="F97316"/>
                </a:solidFill>
                <a:latin typeface="Calibri"/>
              </a:rPr>
              <a:t> 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96000" y="1836850"/>
            <a:ext cx="522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🔴  Appel YOLO synchrone = latence sur l'API Django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96000" y="2160850"/>
            <a:ext cx="52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alibri"/>
              </a:rPr>
              <a:t>🟢  Optimisation via réduction résolution + mise en cache du modèle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000" y="3474185"/>
            <a:ext cx="5580000" cy="147581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6000" y="3741920"/>
            <a:ext cx="52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  <a:latin typeface="Calibri"/>
              </a:rPr>
              <a:t>Auth sécurisée full-stack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6000" y="3993920"/>
            <a:ext cx="522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🔴  Cookies HttpOnly + CORS = complexité de configuration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6000" y="4317920"/>
            <a:ext cx="52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10B981"/>
                </a:solidFill>
                <a:latin typeface="Calibri"/>
              </a:rPr>
              <a:t>🟢  Custom </a:t>
            </a:r>
            <a:r>
              <a:rPr sz="1100" b="0" i="0" dirty="0" err="1">
                <a:solidFill>
                  <a:srgbClr val="10B981"/>
                </a:solidFill>
                <a:latin typeface="Calibri"/>
              </a:rPr>
              <a:t>CookieJWTAuthentication</a:t>
            </a:r>
            <a:r>
              <a:rPr sz="1100" b="0" i="0" dirty="0">
                <a:solidFill>
                  <a:srgbClr val="10B981"/>
                </a:solidFill>
                <a:latin typeface="Calibri"/>
              </a:rPr>
              <a:t> + CORS_ALLOW_CREDENTIALS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6000" y="3474185"/>
            <a:ext cx="5760000" cy="147581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40000" y="3741920"/>
            <a:ext cx="522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 err="1">
                <a:solidFill>
                  <a:srgbClr val="10B981"/>
                </a:solidFill>
                <a:latin typeface="Calibri"/>
              </a:rPr>
              <a:t>Synchronisation</a:t>
            </a:r>
            <a:r>
              <a:rPr sz="1200" b="1" i="0" dirty="0">
                <a:solidFill>
                  <a:srgbClr val="10B981"/>
                </a:solidFill>
                <a:latin typeface="Calibri"/>
              </a:rPr>
              <a:t> </a:t>
            </a:r>
            <a:r>
              <a:rPr sz="1200" b="1" i="0" dirty="0" err="1">
                <a:solidFill>
                  <a:srgbClr val="10B981"/>
                </a:solidFill>
                <a:latin typeface="Calibri"/>
              </a:rPr>
              <a:t>Alerte</a:t>
            </a:r>
            <a:r>
              <a:rPr sz="1200" b="1" i="0" dirty="0">
                <a:solidFill>
                  <a:srgbClr val="10B981"/>
                </a:solidFill>
                <a:latin typeface="Calibri"/>
              </a:rPr>
              <a:t> </a:t>
            </a:r>
            <a:r>
              <a:rPr lang="fr-FR" sz="1200" b="1" i="0" dirty="0">
                <a:solidFill>
                  <a:srgbClr val="10B981"/>
                </a:solidFill>
                <a:latin typeface="Calibri"/>
              </a:rPr>
              <a:t>-</a:t>
            </a:r>
            <a:r>
              <a:rPr sz="1200" b="1" i="0" dirty="0">
                <a:solidFill>
                  <a:srgbClr val="10B981"/>
                </a:solidFill>
                <a:latin typeface="Calibri"/>
              </a:rPr>
              <a:t> Audit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40000" y="3993920"/>
            <a:ext cx="522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0F172A"/>
                </a:solidFill>
                <a:latin typeface="Calibri"/>
              </a:rPr>
              <a:t>🔴  </a:t>
            </a:r>
            <a:r>
              <a:rPr sz="1100" b="0" i="0" dirty="0" err="1">
                <a:solidFill>
                  <a:srgbClr val="0F172A"/>
                </a:solidFill>
                <a:latin typeface="Calibri"/>
              </a:rPr>
              <a:t>Doublons</a:t>
            </a:r>
            <a:r>
              <a:rPr sz="1100" b="0" i="0" dirty="0">
                <a:solidFill>
                  <a:srgbClr val="0F172A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0F172A"/>
                </a:solidFill>
                <a:latin typeface="Calibri"/>
              </a:rPr>
              <a:t>d'audits</a:t>
            </a:r>
            <a:r>
              <a:rPr sz="1100" b="0" i="0" dirty="0">
                <a:solidFill>
                  <a:srgbClr val="0F172A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0F172A"/>
                </a:solidFill>
                <a:latin typeface="Calibri"/>
              </a:rPr>
              <a:t>actifs</a:t>
            </a:r>
            <a:r>
              <a:rPr sz="1100" b="0" i="0" dirty="0">
                <a:solidFill>
                  <a:srgbClr val="0F172A"/>
                </a:solidFill>
                <a:latin typeface="Calibri"/>
              </a:rPr>
              <a:t> sur </a:t>
            </a:r>
            <a:r>
              <a:rPr sz="1100" b="0" i="0" dirty="0" err="1">
                <a:solidFill>
                  <a:srgbClr val="0F172A"/>
                </a:solidFill>
                <a:latin typeface="Calibri"/>
              </a:rPr>
              <a:t>une</a:t>
            </a:r>
            <a:r>
              <a:rPr sz="1100" b="0" i="0" dirty="0">
                <a:solidFill>
                  <a:srgbClr val="0F172A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0F172A"/>
                </a:solidFill>
                <a:latin typeface="Calibri"/>
              </a:rPr>
              <a:t>même</a:t>
            </a:r>
            <a:r>
              <a:rPr sz="1100" b="0" i="0" dirty="0">
                <a:solidFill>
                  <a:srgbClr val="0F172A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0F172A"/>
                </a:solidFill>
                <a:latin typeface="Calibri"/>
              </a:rPr>
              <a:t>alerte</a:t>
            </a:r>
            <a:endParaRPr sz="1100" b="0" i="0" dirty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40000" y="4317920"/>
            <a:ext cx="52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10B981"/>
                </a:solidFill>
                <a:latin typeface="Calibri"/>
              </a:rPr>
              <a:t>🟢  </a:t>
            </a:r>
            <a:r>
              <a:rPr sz="1100" b="0" i="0" dirty="0" err="1">
                <a:solidFill>
                  <a:srgbClr val="10B981"/>
                </a:solidFill>
                <a:latin typeface="Calibri"/>
              </a:rPr>
              <a:t>Vérification</a:t>
            </a:r>
            <a:r>
              <a:rPr sz="1100" b="0" i="0" dirty="0">
                <a:solidFill>
                  <a:srgbClr val="10B981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10B981"/>
                </a:solidFill>
                <a:latin typeface="Calibri"/>
              </a:rPr>
              <a:t>côté</a:t>
            </a:r>
            <a:r>
              <a:rPr sz="1100" b="0" i="0" dirty="0">
                <a:solidFill>
                  <a:srgbClr val="10B981"/>
                </a:solidFill>
                <a:latin typeface="Calibri"/>
              </a:rPr>
              <a:t> backend </a:t>
            </a:r>
            <a:r>
              <a:rPr sz="1100" b="0" i="0" dirty="0" err="1">
                <a:solidFill>
                  <a:srgbClr val="10B981"/>
                </a:solidFill>
                <a:latin typeface="Calibri"/>
              </a:rPr>
              <a:t>avant</a:t>
            </a:r>
            <a:r>
              <a:rPr sz="1100" b="0" i="0" dirty="0">
                <a:solidFill>
                  <a:srgbClr val="10B981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10B981"/>
                </a:solidFill>
                <a:latin typeface="Calibri"/>
              </a:rPr>
              <a:t>création</a:t>
            </a:r>
            <a:r>
              <a:rPr sz="1100" b="0" i="0" dirty="0">
                <a:solidFill>
                  <a:srgbClr val="10B981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10B981"/>
                </a:solidFill>
                <a:latin typeface="Calibri"/>
              </a:rPr>
              <a:t>d'audit</a:t>
            </a:r>
            <a:endParaRPr sz="1100" b="0" i="0" dirty="0">
              <a:solidFill>
                <a:srgbClr val="10B981"/>
              </a:solidFill>
              <a:latin typeface="Calibri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60000" y="5688001"/>
            <a:ext cx="11520000" cy="54000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0000" y="5760000"/>
            <a:ext cx="11160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 dirty="0" err="1">
                <a:solidFill>
                  <a:srgbClr val="FFFFFF"/>
                </a:solidFill>
                <a:latin typeface="Calibri"/>
              </a:rPr>
              <a:t>Ces</a:t>
            </a:r>
            <a:r>
              <a:rPr sz="1300" b="0" i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300" b="0" i="1" dirty="0" err="1">
                <a:solidFill>
                  <a:srgbClr val="FFFFFF"/>
                </a:solidFill>
                <a:latin typeface="Calibri"/>
              </a:rPr>
              <a:t>difficultés</a:t>
            </a:r>
            <a:r>
              <a:rPr sz="1300" b="0" i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300" b="0" i="1" dirty="0" err="1">
                <a:solidFill>
                  <a:srgbClr val="FFFFFF"/>
                </a:solidFill>
                <a:latin typeface="Calibri"/>
              </a:rPr>
              <a:t>ont</a:t>
            </a:r>
            <a:r>
              <a:rPr sz="1300" b="0" i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300" b="0" i="1" dirty="0" err="1">
                <a:solidFill>
                  <a:srgbClr val="FFFFFF"/>
                </a:solidFill>
                <a:latin typeface="Calibri"/>
              </a:rPr>
              <a:t>renforcé</a:t>
            </a:r>
            <a:r>
              <a:rPr sz="1300" b="0" i="1" dirty="0">
                <a:solidFill>
                  <a:srgbClr val="FFFFFF"/>
                </a:solidFill>
                <a:latin typeface="Calibri"/>
              </a:rPr>
              <a:t> ma </a:t>
            </a:r>
            <a:r>
              <a:rPr sz="1300" b="0" i="1" dirty="0" err="1">
                <a:solidFill>
                  <a:srgbClr val="FFFFFF"/>
                </a:solidFill>
                <a:latin typeface="Calibri"/>
              </a:rPr>
              <a:t>maîtrise</a:t>
            </a:r>
            <a:r>
              <a:rPr sz="1300" b="0" i="1" dirty="0">
                <a:solidFill>
                  <a:srgbClr val="FFFFFF"/>
                </a:solidFill>
                <a:latin typeface="Calibri"/>
              </a:rPr>
              <a:t> de </a:t>
            </a:r>
            <a:r>
              <a:rPr sz="1300" b="0" i="1" dirty="0" err="1">
                <a:solidFill>
                  <a:srgbClr val="FFFFFF"/>
                </a:solidFill>
                <a:latin typeface="Calibri"/>
              </a:rPr>
              <a:t>l'architecture</a:t>
            </a:r>
            <a:r>
              <a:rPr sz="1300" b="0" i="1" dirty="0">
                <a:solidFill>
                  <a:srgbClr val="FFFFFF"/>
                </a:solidFill>
                <a:latin typeface="Calibri"/>
              </a:rPr>
              <a:t> full-stack et de </a:t>
            </a:r>
            <a:r>
              <a:rPr sz="1300" b="0" i="1" dirty="0" err="1">
                <a:solidFill>
                  <a:srgbClr val="FFFFFF"/>
                </a:solidFill>
                <a:latin typeface="Calibri"/>
              </a:rPr>
              <a:t>l'intégration</a:t>
            </a:r>
            <a:r>
              <a:rPr sz="1300" b="0" i="1" dirty="0">
                <a:solidFill>
                  <a:srgbClr val="FFFFFF"/>
                </a:solidFill>
                <a:latin typeface="Calibri"/>
              </a:rPr>
              <a:t> de </a:t>
            </a:r>
            <a:r>
              <a:rPr sz="1300" b="0" i="1" dirty="0" err="1">
                <a:solidFill>
                  <a:srgbClr val="FFFFFF"/>
                </a:solidFill>
                <a:latin typeface="Calibri"/>
              </a:rPr>
              <a:t>modèles</a:t>
            </a:r>
            <a:r>
              <a:rPr sz="1300" b="0" i="1" dirty="0">
                <a:solidFill>
                  <a:srgbClr val="FFFFFF"/>
                </a:solidFill>
                <a:latin typeface="Calibri"/>
              </a:rPr>
              <a:t> IA dans un </a:t>
            </a:r>
            <a:r>
              <a:rPr lang="fr-FR" sz="1300" b="0" i="1" dirty="0">
                <a:solidFill>
                  <a:srgbClr val="FFFFFF"/>
                </a:solidFill>
                <a:latin typeface="Calibri"/>
              </a:rPr>
              <a:t>tel </a:t>
            </a:r>
            <a:r>
              <a:rPr sz="1300" b="0" i="1" dirty="0" err="1">
                <a:solidFill>
                  <a:srgbClr val="FFFFFF"/>
                </a:solidFill>
                <a:latin typeface="Calibri"/>
              </a:rPr>
              <a:t>système</a:t>
            </a:r>
            <a:r>
              <a:rPr sz="1300" b="0" i="1" dirty="0">
                <a:solidFill>
                  <a:srgbClr val="FFFFFF"/>
                </a:solidFill>
                <a:latin typeface="Calibri"/>
              </a:rPr>
              <a:t>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678000"/>
            <a:ext cx="12193200" cy="18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200" cy="288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18000"/>
            <a:ext cx="121932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6794" y="493693"/>
            <a:ext cx="108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 dirty="0">
                <a:solidFill>
                  <a:srgbClr val="F97316"/>
                </a:solidFill>
                <a:latin typeface="Calibri"/>
              </a:rPr>
              <a:t>Ce qui </a:t>
            </a:r>
            <a:r>
              <a:rPr lang="fr-FR" sz="2600" b="1" dirty="0">
                <a:solidFill>
                  <a:srgbClr val="F97316"/>
                </a:solidFill>
                <a:latin typeface="Calibri"/>
              </a:rPr>
              <a:t>est prêt à être livré!</a:t>
            </a:r>
            <a:endParaRPr sz="2600" b="1" i="0" dirty="0">
              <a:solidFill>
                <a:srgbClr val="F97316"/>
              </a:solidFill>
              <a:latin typeface="Calibri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24794" y="1587211"/>
            <a:ext cx="8311816" cy="64800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24794" y="1587211"/>
            <a:ext cx="144000" cy="648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76794" y="1641211"/>
            <a:ext cx="1044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  <a:latin typeface="Calibri"/>
              </a:rPr>
              <a:t>Plateforme IA opérationnelle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794" y="1893211"/>
            <a:ext cx="1044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Détection YOLOv8 intégrée dans un backend Django en production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794" y="2548229"/>
            <a:ext cx="9424179" cy="64800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4794" y="2548229"/>
            <a:ext cx="144000" cy="648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76794" y="2602229"/>
            <a:ext cx="1044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  <a:latin typeface="Calibri"/>
              </a:rPr>
              <a:t>Workflow métier complet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794" y="2854229"/>
            <a:ext cx="1044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De la détection brute jusqu'à l'audit clôturé avec PDF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794" y="3503220"/>
            <a:ext cx="10300872" cy="64800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4794" y="3503220"/>
            <a:ext cx="144000" cy="648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6794" y="3557220"/>
            <a:ext cx="1044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  <a:latin typeface="Calibri"/>
              </a:rPr>
              <a:t>Infrastructure cloud robuste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794" y="3809220"/>
            <a:ext cx="1044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AWS EC2 + CodeDeploy + Cloudflare CDN — déploiement CI/CD automatisé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56168" y="4537613"/>
            <a:ext cx="3224534" cy="124771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667977" y="4643247"/>
            <a:ext cx="864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→  Flux vidéo RTSP / HLS en streaming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7977" y="4895246"/>
            <a:ext cx="864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→  Application mobile technicien terrain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7977" y="5147245"/>
            <a:ext cx="864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→  Entraînement continu du modèle (MLOps)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7977" y="5399244"/>
            <a:ext cx="864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→  Notifications temps réel (Slack, email)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05872" y="5806836"/>
            <a:ext cx="5040000" cy="6480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579629" y="5860836"/>
            <a:ext cx="50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Calibri"/>
              </a:rPr>
              <a:t>Questions 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678000"/>
            <a:ext cx="12193200" cy="180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e6c818a6-e1a0-4a6e-a969-20d857c5dc62}" enabled="1" method="Standard" siteId="{90c7a20a-f34b-40bf-bc48-b9253b6f5d20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933</Words>
  <Application>Microsoft Office PowerPoint</Application>
  <PresentationFormat>Personnalisé</PresentationFormat>
  <Paragraphs>205</Paragraphs>
  <Slides>11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5" baseType="lpstr">
      <vt:lpstr>Arial</vt:lpstr>
      <vt:lpstr>Calibri</vt:lpstr>
      <vt:lpstr>Helvetica 75 Bold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/>
  <cp:keywords/>
  <dc:description>generated using python-pptx</dc:description>
  <cp:lastModifiedBy>TRAORE Souleymane Ext O-BF</cp:lastModifiedBy>
  <cp:revision>6</cp:revision>
  <dcterms:created xsi:type="dcterms:W3CDTF">2013-01-27T09:14:16Z</dcterms:created>
  <dcterms:modified xsi:type="dcterms:W3CDTF">2026-06-09T10:14:23Z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Theme:8</vt:lpwstr>
  </property>
  <property fmtid="{D5CDD505-2E9C-101B-9397-08002B2CF9AE}" pid="3" name="ClassificationContentMarkingFooterText">
    <vt:lpwstr>Orange Restricted</vt:lpwstr>
  </property>
</Properties>
</file>